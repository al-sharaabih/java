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47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25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65176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97764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62940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95528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928116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060704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193292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25880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458468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91056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23644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856232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988820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21408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53996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386584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19172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51760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784348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916936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049524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182112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314700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447288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79876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712464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845052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977640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110228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42816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375404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507992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640580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73168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05756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38344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170932"/>
            <a:ext cx="9144000" cy="41148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274320"/>
            <a:ext cx="859536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20040"/>
            <a:ext cx="8503920" cy="44805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3A0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9144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КЕШИРОВАНИЕ В JVM</a:t>
            </a:r>
            <a:endParaRPr lang="en-US" sz="3800" dirty="0"/>
          </a:p>
        </p:txBody>
      </p:sp>
      <p:sp>
        <p:nvSpPr>
          <p:cNvPr id="46" name="Text 44"/>
          <p:cNvSpPr/>
          <p:nvPr/>
        </p:nvSpPr>
        <p:spPr>
          <a:xfrm>
            <a:off x="594360" y="1719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94360" y="2212848"/>
            <a:ext cx="79552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2359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Инициализация JVM heap...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4360" y="27066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Загрузка ClassLoader...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4360" y="305409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 создан [OK]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" y="3401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ConcurrentHashMap [OK]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436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Caffeine LoadingCache [OK]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" y="40965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Запуск презентации...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94360" y="4462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00" dirty="0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//Ал-</a:t>
            </a:r>
            <a:r>
              <a:rPr lang="ru-RU" sz="1000" dirty="0" err="1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Шарааби</a:t>
            </a:r>
            <a:r>
              <a:rPr lang="ru-RU" sz="1000" dirty="0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Хамза   //Бакаев Лука                                               //группа5030102/40001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такое кеш?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Кеш = временное хранилище. Доступ быстрее, чем к исходному источнику.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965960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00A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БД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1078992"/>
            <a:ext cx="1965960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00A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REST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1965960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00A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Файловая система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1078992"/>
            <a:ext cx="1965960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00A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Вычисление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841248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17904"/>
            <a:ext cx="8412480" cy="274320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15544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latency-report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1847088"/>
            <a:ext cx="818388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LATENCY BENCHMARK — jvm-cache-tool v2.4.1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─────────────────────────────────────────────────────────────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LATENCY        RELATIVE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L1/L2 кеш CPU            1–10 нс        baseline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JVM Heap (RAM)           50–100 нс      × 10 медленнее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Локальный SSD            50–100 мкс     × 1 000 медленнее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Сетевой вызов к БД       0.5–5 мс       × 10 000 медленнее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Внешний REST API         20–200 мс      × 200 000 медленнее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ЦЕЛЬ: кеш приближает доступ к верхней строке таблицы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Простейшая реализация — HashMap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77240"/>
            <a:ext cx="4754880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90687"/>
            <a:ext cx="4754880" cy="274320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813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SimpleCache.java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106424"/>
            <a:ext cx="452628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Map&lt;Integer, User&gt; cache = new HashMap&lt;&gt;();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ли ConcurrentHashMap для многопоточности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user = cache.get(userId);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(user == null) {</a:t>
            </a:r>
            <a:endParaRPr lang="en-US" sz="1000" dirty="0"/>
          </a:p>
          <a:p>
            <a:pPr marL="0" indent="0">
              <a:buNone/>
            </a:pPr>
            <a:endParaRPr lang="ru-RU" sz="1000" dirty="0">
              <a:solidFill>
                <a:srgbClr val="E8FFE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database.find(userId);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cache.put(userId, user);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777240"/>
            <a:ext cx="3474720" cy="1417320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8503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STDOUT: ПЛЮСЫ 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0" y="1106424"/>
            <a:ext cx="3200400" cy="16459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4" name="Text 12"/>
          <p:cNvSpPr/>
          <p:nvPr/>
        </p:nvSpPr>
        <p:spPr>
          <a:xfrm>
            <a:off x="5468112" y="1161288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Просто, нет зависимостей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Быстро для прототипов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2331720"/>
            <a:ext cx="3474720" cy="1645920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4048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STDERR: МИНУСЫ 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0680" y="2660904"/>
            <a:ext cx="3200400" cy="16459"/>
          </a:xfrm>
          <a:prstGeom prst="rect">
            <a:avLst/>
          </a:prstGeom>
          <a:solidFill>
            <a:srgbClr val="FF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5468112" y="2715768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автоудаления → OOM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ограничения TTL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 не потокобезопасен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защиты от stampede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96512"/>
            <a:ext cx="8412480" cy="365760"/>
          </a:xfrm>
          <a:prstGeom prst="rect">
            <a:avLst/>
          </a:prstGeom>
          <a:solidFill>
            <a:srgbClr val="2A1D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Подходит только для прототипов. В продакшн не допускать.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Три </a:t>
            </a: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основны</a:t>
            </a:r>
            <a:r>
              <a:rPr lang="ru-RU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</a:t>
            </a: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проблем</a:t>
            </a:r>
            <a:r>
              <a:rPr lang="ru-RU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ы</a:t>
            </a: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кеширования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04672"/>
            <a:ext cx="2724912" cy="4069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2724912" cy="274320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886968"/>
            <a:ext cx="109728" cy="109728"/>
          </a:xfrm>
          <a:prstGeom prst="ellipse">
            <a:avLst/>
          </a:prstGeom>
          <a:solidFill>
            <a:srgbClr val="FF3333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886968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886968"/>
            <a:ext cx="109728" cy="109728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841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ERR_001 — Бесконечный рост памяти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249631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Exception: OutOfMemoryError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 HashMap.put(HashMap.java)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HashMap растёт вечно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Решение: вытеснение (eviction)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size-based / TTL / LRU / LFU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Caffeine: TinyLFU + фильтр Блума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804672"/>
            <a:ext cx="2724912" cy="274320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804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Бесконечный</a:t>
            </a:r>
            <a:r>
              <a:rPr lang="en-US" sz="90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рост памяти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804672"/>
            <a:ext cx="2724912" cy="4069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804672"/>
            <a:ext cx="2724912" cy="274320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886968"/>
            <a:ext cx="109728" cy="109728"/>
          </a:xfrm>
          <a:prstGeom prst="ellipse">
            <a:avLst/>
          </a:prstGeom>
          <a:solidFill>
            <a:srgbClr val="FF3333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9584" y="886968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730752" y="886968"/>
            <a:ext cx="109728" cy="109728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18" name="Text 16"/>
          <p:cNvSpPr/>
          <p:nvPr/>
        </p:nvSpPr>
        <p:spPr>
          <a:xfrm>
            <a:off x="3950208" y="841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ERR_002 — HashMap не потокобезопасен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5848" y="1133856"/>
            <a:ext cx="249631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ConcurrentModificationException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Two threads: HashMap.put()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infinite loop, CPU 100%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Решение: ConcurrentHashMap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lock-free чтение, CAS-вставки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red-black деревья при коллизиях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804672"/>
            <a:ext cx="2724912" cy="274320"/>
          </a:xfrm>
          <a:prstGeom prst="rect">
            <a:avLst/>
          </a:prstGeom>
          <a:solidFill>
            <a:srgbClr val="2A1D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804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 не потокобезопасен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71616" y="804672"/>
            <a:ext cx="2724912" cy="4069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804672"/>
            <a:ext cx="2724912" cy="274320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886968"/>
            <a:ext cx="109728" cy="109728"/>
          </a:xfrm>
          <a:prstGeom prst="ellipse">
            <a:avLst/>
          </a:prstGeom>
          <a:solidFill>
            <a:srgbClr val="FF3333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886968"/>
            <a:ext cx="109728" cy="1097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886968"/>
            <a:ext cx="109728" cy="109728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27" name="Text 25"/>
          <p:cNvSpPr/>
          <p:nvPr/>
        </p:nvSpPr>
        <p:spPr>
          <a:xfrm>
            <a:off x="6803136" y="841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ERR_003 — Давление на GC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8776" y="1133856"/>
            <a:ext cx="249631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 pause: 50ms  [кеш 2GB]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 pause: 10ms  [без кеша]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Кеш = сильные ссылки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GC обходит все живые объекты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Решения: ограничить размер,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off-heap, ZGC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804672"/>
            <a:ext cx="2724912" cy="274320"/>
          </a:xfrm>
          <a:prstGeom prst="rect">
            <a:avLst/>
          </a:prstGeom>
          <a:solidFill>
            <a:srgbClr val="003A0F"/>
          </a:solidFill>
          <a:ln w="12700">
            <a:solidFill>
              <a:srgbClr val="00A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804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Давление на GC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Off-heap кеш — вне кучи JVM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Off-heap: ByteBuffer.allocateDirect() → GC не сканирует → нет STW-пауз от кеша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194560" cy="822960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HEAP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(GC управляет)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Objects, arrays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 паузы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0" y="12801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←→ 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194560" cy="822960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2618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OFF-HEAP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(native memory)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27832" y="1645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ByteBuffer.direct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GC пауз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49240" y="12801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←→ 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52160" y="1234440"/>
            <a:ext cx="2194560" cy="822960"/>
          </a:xfrm>
          <a:prstGeom prst="rect">
            <a:avLst/>
          </a:prstGeom>
          <a:solidFill>
            <a:srgbClr val="2A1D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12618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 / SWAP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(Ehcache tier 3)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25312" y="1645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Персистентность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Терабайты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4160520" cy="1417320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ПЛЮСЫ</a:t>
            </a:r>
            <a:r>
              <a:rPr lang="ru-RU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542032"/>
            <a:ext cx="3886200" cy="16459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596896"/>
            <a:ext cx="3886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 не видит off-heap данные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Паузы не растут с размером кеша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Можно хранить терабайты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212848"/>
            <a:ext cx="4069080" cy="1417320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МИНУСЫ</a:t>
            </a:r>
            <a:r>
              <a:rPr lang="ru-RU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542032"/>
            <a:ext cx="3794760" cy="16459"/>
          </a:xfrm>
          <a:prstGeom prst="rect">
            <a:avLst/>
          </a:prstGeom>
          <a:solidFill>
            <a:srgbClr val="FF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2596896"/>
            <a:ext cx="3794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Сериализация тратит CPU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автоудаления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Сложнее дебажить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Две проблемы согласованности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04672"/>
            <a:ext cx="4160520" cy="4041648"/>
          </a:xfrm>
          <a:prstGeom prst="rect">
            <a:avLst/>
          </a:prstGeom>
          <a:solidFill>
            <a:srgbClr val="2A1D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 CACHE</a:t>
            </a:r>
            <a:r>
              <a:rPr lang="ru-RU" sz="10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3886200" cy="16459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188720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Источник обновился, кеш — нет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ПРИЧИНЫ: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Другой сервис обновил БД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Write-around паттерн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ещё не истёк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РЕШЕНИЯ: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Короткий TTL (5–30 с)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Write-through (кеш + БД синхронно)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Инвалидация по событиям (Kafka)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Версионирование записей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069080" cy="4041648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77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STAMPEDE</a:t>
            </a:r>
            <a:r>
              <a:rPr lang="ru-RU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33856"/>
            <a:ext cx="3794760" cy="16459"/>
          </a:xfrm>
          <a:prstGeom prst="rect">
            <a:avLst/>
          </a:prstGeom>
          <a:solidFill>
            <a:srgbClr val="FF3333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188720"/>
            <a:ext cx="3794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TTL истёк → тысячи потоков → БД падает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ОПАСНО КОГДА: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RPS &gt; 500, TTL = 60 с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Вероятность stampede высока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РЕШЕНИЕ: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Блокировка по ключу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1й поток → загружает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Остальные → ждут future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БД вызвана ОДИН РАЗ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Решение Cache Stampede — блокировка на ключ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36676"/>
            <a:ext cx="4160520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0369" y="896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MISS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76833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Первый поток → miss → computeIfAbsent создаёт CompletableFuture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4160520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7A5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710" y="1856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ПОТОКИ ЖДУТ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710" y="216255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Остальные находят тот же future → future.join() → блокируются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38628"/>
            <a:ext cx="4160520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7A5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710" y="278663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ЗАГРУЗКА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710" y="3102685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Первый поток: load(key) → одна единственная запись в БД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85032"/>
            <a:ext cx="4160520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710" y="37124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ГОТОВО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05993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future.complete(val) → все потоки получают результат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804672"/>
            <a:ext cx="4069080" cy="2816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8412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1133856"/>
            <a:ext cx="38404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Именно так работает Caffeine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computeIfAbsent — атомарно: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CompletableFuture&lt;V&gt; future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map.computeIfAbsent(key,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-&gt; new CompletableFuture&lt;&gt;());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Первый поток загружает: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(!future.isDone())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future.complete(load(key));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Все получают результат: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future.join();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749040"/>
            <a:ext cx="4069080" cy="1097280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13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r>
              <a:rPr lang="ru-RU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41148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БД вызвана ОДИН раз на ключ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Работает при любом RPS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Caffeine делает это из коробки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Caffeine LoadingCache — правильный кеш для JVM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04672"/>
            <a:ext cx="1572768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04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TinyLFU eviction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66544" y="804672"/>
            <a:ext cx="1572768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9696" y="804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TTL / TTI expiry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67328" y="804672"/>
            <a:ext cx="1572768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804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Stampede guard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68112" y="804672"/>
            <a:ext cx="1572768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804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recordStats()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68896" y="804672"/>
            <a:ext cx="1572768" cy="347472"/>
          </a:xfrm>
          <a:prstGeom prst="rect">
            <a:avLst/>
          </a:prstGeom>
          <a:solidFill>
            <a:srgbClr val="003A0F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2048" y="804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Async loading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243584"/>
            <a:ext cx="8412480" cy="1572768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2801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1572768"/>
            <a:ext cx="8183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СОЗДАНИЕ — один раз при старте приложения: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LoadingCache&lt;Integer, User&gt; cache = Caffeine.newBuilder()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.maximumSize(10_000)               // вытеснение по размеру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.expireAfterWrite(5, TimeUnit.MINUTES) // TTL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.recordStats()                     // метрики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.build(key -&gt; database.findUserById(key)); // загрузчик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39312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это работает внутри</a:t>
            </a:r>
            <a:r>
              <a:rPr lang="ru-RU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895344"/>
            <a:ext cx="8138160" cy="16459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950208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ConcurrentHashMap&lt;K, CompletableFuture&lt;V&gt;&gt;  — основная структура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computeIfAbsent()  — атомарное создание future при miss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future.join()  — ожидание без повторной загрузки для всех остальных потоков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TinyLFU admission filter  — экономит память, отсеивает одноразовые запросы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Кеширование</a:t>
            </a: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null — защита от cache penetration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04672"/>
            <a:ext cx="4069080" cy="1965960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37947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Запросы несуществующих ключей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всегда MISS → всегда в БД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id=-1 всегда промах → БД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Это может быть атакой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Тысячи запросов → БД умирает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069080" cy="1965960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77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MITIGATION 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33856"/>
            <a:ext cx="3794760" cy="16459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188720"/>
            <a:ext cx="37947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Кешировать специальный маркер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NULL_MARKER вместо null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Короткий TTL (30 с)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 появлении реальной записи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кеш обновится через 30 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9169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NullSafeCache.java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81838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Object NULL_MARKER = new Object();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 записи в кеш: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toCache = (value != null) ? value : NULL_MARKER;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cache.put(id, toCache);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 чтении из кеша: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cached = cache.getIfPresent(id);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(cached == NULL_MARKER) ? null : (User) cached;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Мониторинг — Hit Ratio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HIT_RATIO = cache_hits / total_requests    // цель: &gt; 0.80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24912" cy="658368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898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0.50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6824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— кеш бесполезен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371600"/>
            <a:ext cx="2724912" cy="658368"/>
          </a:xfrm>
          <a:prstGeom prst="rect">
            <a:avLst/>
          </a:prstGeom>
          <a:solidFill>
            <a:srgbClr val="2A1D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3898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0.50–0.80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28416" y="16824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— есть проблемы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1371600"/>
            <a:ext cx="2724912" cy="658368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13898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0.80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1344" y="16824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— хороший результат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89719"/>
            <a:ext cx="4069080" cy="1298448"/>
          </a:xfrm>
          <a:prstGeom prst="rect">
            <a:avLst/>
          </a:prstGeom>
          <a:solidFill>
            <a:srgbClr val="2A1D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9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ЕСЛИ HIT RATIO НИЗКИЙ 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794760" cy="16459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5603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Увеличить TTL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Увеличить maximumSize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Кешировать правильные данные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76272"/>
            <a:ext cx="4069080" cy="1298448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2128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Metrics.java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505456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Caffeine: всегда включать в prod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CacheStats s = cache.stats();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s.hitRate();       // 0.85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s.missCount();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s.evictionCount();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8412480" cy="1216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30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КАК ВКЛЮЧИТЬ СТАТИСТИКУ: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391363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Caffeine.newBuilder()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.recordStats()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.build(...);   // готово — статистика активна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Распределённый кеш — Redis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18120"/>
            <a:ext cx="4069080" cy="1298448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несколько серверов</a:t>
            </a:r>
            <a:r>
              <a:rPr lang="ru-RU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3794760" cy="16459"/>
          </a:xfrm>
          <a:prstGeom prst="rect">
            <a:avLst/>
          </a:prstGeom>
          <a:solidFill>
            <a:srgbClr val="FF33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1887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Локальный кеш → дублирование памяти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Сервер A обновил → сервер B не знает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069080" cy="1298448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77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РЕШЕНИЕ: Redis</a:t>
            </a:r>
            <a:r>
              <a:rPr lang="ru-RU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33856"/>
            <a:ext cx="3794760" cy="16459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1887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Единое хранилище для всех серверов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Данные в памяти, доступ по сети (~1–2 мс)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2194560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33472"/>
            <a:ext cx="2194560" cy="320040"/>
          </a:xfrm>
          <a:prstGeom prst="rect">
            <a:avLst/>
          </a:prstGeom>
          <a:solidFill>
            <a:srgbClr val="003A0F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33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633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9992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Caffeine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(локальный)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Горячие данные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5 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0" y="2633472"/>
            <a:ext cx="594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633472"/>
            <a:ext cx="2194560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633472"/>
            <a:ext cx="2194560" cy="320040"/>
          </a:xfrm>
          <a:prstGeom prst="rect">
            <a:avLst/>
          </a:prstGeom>
          <a:solidFill>
            <a:srgbClr val="2A1D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633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03320" y="2633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 мс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9992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(общий)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34747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Основной кеш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всех серверов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2633472"/>
            <a:ext cx="594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A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633472"/>
            <a:ext cx="2194560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633472"/>
            <a:ext cx="2194560" cy="320040"/>
          </a:xfrm>
          <a:prstGeom prst="rect">
            <a:avLst/>
          </a:prstGeom>
          <a:solidFill>
            <a:srgbClr val="1A0000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2633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2633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20–50 мс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29992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База данных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(источник)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26480" y="34747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Запрос только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 miss в L2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Итоговая таблица — что и когда использовать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4242816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СЦЕНАРИЙ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РЕШЕНИЕ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Прототип, однопоточное, маленькие данные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HashMap с ручным управлением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Многопоточность, нет жёстких требований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ConcurrentHashMap + ручная загрузка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Продакшн, высокие нагрузки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Caffeine: LoadingCache, maximumSize, expireAfterWrite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Кеш &gt; 1–2 ГБ, проблемы с GC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Off-heap: Ehcache / Распределённый: Redis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Несколько серверов, нужна согласованность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Redis или Hazelcast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Опасность cache stampede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Caffeine LoadingCache (встроенная защита)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Нужно кешировать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F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NULL_MARKER с коротким TTL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Заключение и рекомендации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16459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804672"/>
            <a:ext cx="4160520" cy="1261872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91440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Всегда задавайте границы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280160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maximumSize или expireAfterWrite — иначе OOM.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832104"/>
            <a:ext cx="4160520" cy="1261872"/>
          </a:xfrm>
          <a:prstGeom prst="rect">
            <a:avLst/>
          </a:prstGeom>
          <a:solidFill>
            <a:srgbClr val="111111"/>
          </a:solidFill>
          <a:ln w="12700">
            <a:solidFill>
              <a:srgbClr val="7A5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995" y="91440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Измеряйте hit ratio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1268" y="128930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Если &lt; 50% — кеш бесполезен. recordStats() обязателен.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160520" cy="1261872"/>
          </a:xfrm>
          <a:prstGeom prst="rect">
            <a:avLst/>
          </a:prstGeom>
          <a:solidFill>
            <a:srgbClr val="111111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30428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Защита от stampede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2670048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Никогда if(cache.get()==null). Всегда LoadingCache.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238451"/>
            <a:ext cx="4160520" cy="1261872"/>
          </a:xfrm>
          <a:prstGeom prst="rect">
            <a:avLst/>
          </a:prstGeom>
          <a:solidFill>
            <a:srgbClr val="111111"/>
          </a:solidFill>
          <a:ln w="12700">
            <a:solidFill>
              <a:srgbClr val="7A5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237744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Думайте о согласованности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2695866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Часто меняется → короткий TTL &gt; сложная инвалидация.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" y="3633395"/>
            <a:ext cx="4160520" cy="1261872"/>
          </a:xfrm>
          <a:prstGeom prst="rect">
            <a:avLst/>
          </a:prstGeom>
          <a:solidFill>
            <a:srgbClr val="111111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995" y="3694176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Большие кеши → следите за GC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4047565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Паузы растут → off-heap (Ehcache) или Redis.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</TotalTime>
  <Words>1323</Words>
  <Application>Microsoft Office PowerPoint</Application>
  <PresentationFormat>Экран (16:9)</PresentationFormat>
  <Paragraphs>283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Кеширование в JVM</dc:title>
  <dc:subject>PptxGenJS Presentation</dc:subject>
  <dc:creator>PptxGenJS</dc:creator>
  <cp:lastModifiedBy>Not Me</cp:lastModifiedBy>
  <cp:revision>7</cp:revision>
  <dcterms:created xsi:type="dcterms:W3CDTF">2026-05-22T02:15:17Z</dcterms:created>
  <dcterms:modified xsi:type="dcterms:W3CDTF">2026-05-23T15:04:01Z</dcterms:modified>
</cp:coreProperties>
</file>