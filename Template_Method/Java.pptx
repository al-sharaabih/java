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VT323"/>
      <p:regular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CI3JkMwHjucxVVPzg7Q2NnPi/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regular.fntdata"/><Relationship Id="rId25" Type="http://schemas.openxmlformats.org/officeDocument/2006/relationships/slide" Target="slides/slide21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regular.fntdata"/><Relationship Id="rId30" Type="http://schemas.openxmlformats.org/officeDocument/2006/relationships/font" Target="fonts/VT323-regular.fntdata"/><Relationship Id="rId11" Type="http://schemas.openxmlformats.org/officeDocument/2006/relationships/slide" Target="slides/slide7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6.xml"/><Relationship Id="rId32" Type="http://schemas.openxmlformats.org/officeDocument/2006/relationships/font" Target="fonts/RobotoMono-bold.fntdata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2e882de42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d2e882de42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2e882de42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d2e882de42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41cd58d2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d41cd58d2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41cd58d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d41cd58d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29e09d87a22a68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129e09d87a22a68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29e09d87a22a68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129e09d87a22a68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9e09d87a22a68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129e09d87a22a68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29e09d87a22a68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129e09d87a22a68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29e09d87a22a68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129e09d87a22a68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446336aa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d446336aa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7aba9c7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97aba9c7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2e882de42_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d2e882de42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c8d765094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dc8d765094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c8d765094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dc8d765094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3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34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34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34"/>
          <p:cNvSpPr/>
          <p:nvPr>
            <p:ph idx="2" type="pic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34"/>
          <p:cNvSpPr txBox="1"/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" type="subTitle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" name="Google Shape;15;p34" title="Sin título-2.png"/>
          <p:cNvPicPr preferRelativeResize="0"/>
          <p:nvPr/>
        </p:nvPicPr>
        <p:blipFill rotWithShape="1">
          <a:blip r:embed="rId3">
            <a:alphaModFix/>
          </a:blip>
          <a:srcRect b="0" l="61983" r="0" t="0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5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" name="Google Shape;18;p35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5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35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21" name="Google Shape;21;p35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6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6"/>
          <p:cNvSpPr txBox="1"/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" type="subTitle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36"/>
          <p:cNvSpPr txBox="1"/>
          <p:nvPr>
            <p:ph idx="2" type="subTitle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" name="Google Shape;27;p36"/>
          <p:cNvSpPr txBox="1"/>
          <p:nvPr>
            <p:ph idx="3" type="subTitle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" name="Google Shape;28;p36"/>
          <p:cNvSpPr txBox="1"/>
          <p:nvPr>
            <p:ph idx="4" type="subTitle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" name="Google Shape;29;p36"/>
          <p:cNvSpPr txBox="1"/>
          <p:nvPr>
            <p:ph idx="5" type="subTitle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" name="Google Shape;30;p36"/>
          <p:cNvSpPr txBox="1"/>
          <p:nvPr>
            <p:ph idx="6" type="subTitle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" name="Google Shape;31;p36"/>
          <p:cNvSpPr txBox="1"/>
          <p:nvPr>
            <p:ph idx="7" type="subTitle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" name="Google Shape;32;p36"/>
          <p:cNvSpPr txBox="1"/>
          <p:nvPr>
            <p:ph idx="8" type="subTitle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" name="Google Shape;33;p36"/>
          <p:cNvSpPr txBox="1"/>
          <p:nvPr>
            <p:ph idx="9" type="title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36"/>
          <p:cNvSpPr txBox="1"/>
          <p:nvPr>
            <p:ph idx="13" type="title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36"/>
          <p:cNvSpPr txBox="1"/>
          <p:nvPr>
            <p:ph idx="14" type="title"/>
          </p:nvPr>
        </p:nvSpPr>
        <p:spPr>
          <a:xfrm>
            <a:off x="342582" y="1916800"/>
            <a:ext cx="7641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6" name="Google Shape;36;p36"/>
          <p:cNvSpPr txBox="1"/>
          <p:nvPr>
            <p:ph idx="15" type="title"/>
          </p:nvPr>
        </p:nvSpPr>
        <p:spPr>
          <a:xfrm>
            <a:off x="341850" y="3205200"/>
            <a:ext cx="76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7" name="Google Shape;37;p36"/>
          <p:cNvSpPr txBox="1"/>
          <p:nvPr>
            <p:ph idx="16" type="title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" name="Google Shape;38;p36"/>
          <p:cNvSpPr txBox="1"/>
          <p:nvPr>
            <p:ph idx="17" type="title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" name="Google Shape;39;p36"/>
          <p:cNvSpPr txBox="1"/>
          <p:nvPr>
            <p:ph idx="18" type="title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" name="Google Shape;40;p36"/>
          <p:cNvSpPr txBox="1"/>
          <p:nvPr>
            <p:ph idx="19" type="title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pic>
        <p:nvPicPr>
          <p:cNvPr id="41" name="Google Shape;41;p36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37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7"/>
          <p:cNvSpPr txBox="1"/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5" name="Google Shape;45;p37"/>
          <p:cNvSpPr txBox="1"/>
          <p:nvPr>
            <p:ph idx="1" type="body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37"/>
          <p:cNvSpPr/>
          <p:nvPr>
            <p:ph idx="2" type="pic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47" name="Google Shape;47;p37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3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0" name="Google Shape;50;p38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38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2" name="Google Shape;52;p38" title="Sin título-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3000" y="3371475"/>
            <a:ext cx="5515599" cy="13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8" title="Sin título-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462" y="817950"/>
            <a:ext cx="5399452" cy="30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8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5" name="Google Shape;55;p38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6" name="Google Shape;56;p38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/>
          <p:nvPr>
            <p:ph idx="3" type="pic"/>
          </p:nvPr>
        </p:nvSpPr>
        <p:spPr>
          <a:xfrm flipH="1">
            <a:off x="6386650" y="947025"/>
            <a:ext cx="2107500" cy="2067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9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9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1" name="Google Shape;61;p39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39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0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0"/>
          <p:cNvSpPr txBox="1"/>
          <p:nvPr>
            <p:ph idx="1" type="subTitle"/>
          </p:nvPr>
        </p:nvSpPr>
        <p:spPr>
          <a:xfrm>
            <a:off x="3540003" y="1330738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6" name="Google Shape;66;p40"/>
          <p:cNvSpPr txBox="1"/>
          <p:nvPr>
            <p:ph idx="2" type="subTitle"/>
          </p:nvPr>
        </p:nvSpPr>
        <p:spPr>
          <a:xfrm>
            <a:off x="3540003" y="3067776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7" name="Google Shape;67;p40"/>
          <p:cNvSpPr txBox="1"/>
          <p:nvPr>
            <p:ph idx="3" type="subTitle"/>
          </p:nvPr>
        </p:nvSpPr>
        <p:spPr>
          <a:xfrm>
            <a:off x="3540003" y="1827236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0"/>
          <p:cNvSpPr txBox="1"/>
          <p:nvPr>
            <p:ph idx="4" type="subTitle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0"/>
          <p:cNvSpPr txBox="1"/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70" name="Google Shape;70;p40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41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1"/>
          <p:cNvSpPr txBox="1"/>
          <p:nvPr>
            <p:ph idx="1" type="subTitle"/>
          </p:nvPr>
        </p:nvSpPr>
        <p:spPr>
          <a:xfrm>
            <a:off x="3145041" y="2118945"/>
            <a:ext cx="2599200" cy="2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2" type="subTitle"/>
          </p:nvPr>
        </p:nvSpPr>
        <p:spPr>
          <a:xfrm>
            <a:off x="341850" y="2118945"/>
            <a:ext cx="2599200" cy="2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3" type="subTitle"/>
          </p:nvPr>
        </p:nvSpPr>
        <p:spPr>
          <a:xfrm>
            <a:off x="5948257" y="2118945"/>
            <a:ext cx="2599200" cy="2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type="title"/>
          </p:nvPr>
        </p:nvSpPr>
        <p:spPr>
          <a:xfrm>
            <a:off x="3144432" y="1706300"/>
            <a:ext cx="698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41"/>
          <p:cNvSpPr txBox="1"/>
          <p:nvPr>
            <p:ph idx="4" type="title"/>
          </p:nvPr>
        </p:nvSpPr>
        <p:spPr>
          <a:xfrm>
            <a:off x="341854" y="1706450"/>
            <a:ext cx="697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78" name="Google Shape;78;p41"/>
          <p:cNvSpPr txBox="1"/>
          <p:nvPr>
            <p:ph idx="5" type="title"/>
          </p:nvPr>
        </p:nvSpPr>
        <p:spPr>
          <a:xfrm>
            <a:off x="5948295" y="1706300"/>
            <a:ext cx="698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79" name="Google Shape;79;p41"/>
          <p:cNvSpPr txBox="1"/>
          <p:nvPr>
            <p:ph idx="6" type="title"/>
          </p:nvPr>
        </p:nvSpPr>
        <p:spPr>
          <a:xfrm>
            <a:off x="341850" y="654800"/>
            <a:ext cx="82497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80" name="Google Shape;80;p41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2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2"/>
          <p:cNvSpPr txBox="1"/>
          <p:nvPr>
            <p:ph idx="1" type="subTitle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2"/>
          <p:cNvSpPr txBox="1"/>
          <p:nvPr>
            <p:ph idx="2" type="subTitle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2"/>
          <p:cNvSpPr txBox="1"/>
          <p:nvPr>
            <p:ph idx="3" type="subTitle"/>
          </p:nvPr>
        </p:nvSpPr>
        <p:spPr>
          <a:xfrm>
            <a:off x="330950" y="3392225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2"/>
          <p:cNvSpPr txBox="1"/>
          <p:nvPr>
            <p:ph idx="4" type="subTitle"/>
          </p:nvPr>
        </p:nvSpPr>
        <p:spPr>
          <a:xfrm>
            <a:off x="3225884" y="3392225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2"/>
          <p:cNvSpPr txBox="1"/>
          <p:nvPr>
            <p:ph idx="5" type="subTitle"/>
          </p:nvPr>
        </p:nvSpPr>
        <p:spPr>
          <a:xfrm>
            <a:off x="6120825" y="1987918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2"/>
          <p:cNvSpPr txBox="1"/>
          <p:nvPr>
            <p:ph idx="6" type="subTitle"/>
          </p:nvPr>
        </p:nvSpPr>
        <p:spPr>
          <a:xfrm>
            <a:off x="6120825" y="3392225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2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7" type="title"/>
          </p:nvPr>
        </p:nvSpPr>
        <p:spPr>
          <a:xfrm>
            <a:off x="6132612" y="3071476"/>
            <a:ext cx="257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1" name="Google Shape;91;p42"/>
          <p:cNvSpPr txBox="1"/>
          <p:nvPr>
            <p:ph idx="8" type="title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2" name="Google Shape;92;p42"/>
          <p:cNvSpPr txBox="1"/>
          <p:nvPr>
            <p:ph idx="9" type="title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93" name="Google Shape;93;p42"/>
          <p:cNvSpPr txBox="1"/>
          <p:nvPr>
            <p:ph idx="13" type="title"/>
          </p:nvPr>
        </p:nvSpPr>
        <p:spPr>
          <a:xfrm>
            <a:off x="3237714" y="3071476"/>
            <a:ext cx="2579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94" name="Google Shape;94;p42"/>
          <p:cNvSpPr txBox="1"/>
          <p:nvPr>
            <p:ph idx="14" type="title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42"/>
          <p:cNvSpPr txBox="1"/>
          <p:nvPr>
            <p:ph idx="15" type="title"/>
          </p:nvPr>
        </p:nvSpPr>
        <p:spPr>
          <a:xfrm>
            <a:off x="342736" y="3071476"/>
            <a:ext cx="2579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pic>
        <p:nvPicPr>
          <p:cNvPr id="96" name="Google Shape;96;p42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43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3"/>
          <p:cNvSpPr/>
          <p:nvPr>
            <p:ph idx="2" type="pic"/>
          </p:nvPr>
        </p:nvSpPr>
        <p:spPr>
          <a:xfrm>
            <a:off x="191450" y="686275"/>
            <a:ext cx="8758200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43"/>
          <p:cNvSpPr txBox="1"/>
          <p:nvPr>
            <p:ph type="title"/>
          </p:nvPr>
        </p:nvSpPr>
        <p:spPr>
          <a:xfrm>
            <a:off x="6584125" y="3792925"/>
            <a:ext cx="20040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01" name="Google Shape;101;p43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44" title="Sin título-7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4"/>
          <p:cNvSpPr txBox="1"/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05" name="Google Shape;105;p44" title="Sin título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45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8" name="Google Shape;108;p45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45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45"/>
          <p:cNvSpPr txBox="1"/>
          <p:nvPr>
            <p:ph type="title"/>
          </p:nvPr>
        </p:nvSpPr>
        <p:spPr>
          <a:xfrm>
            <a:off x="792825" y="974863"/>
            <a:ext cx="38766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1" name="Google Shape;111;p45"/>
          <p:cNvSpPr txBox="1"/>
          <p:nvPr>
            <p:ph idx="1" type="subTitle"/>
          </p:nvPr>
        </p:nvSpPr>
        <p:spPr>
          <a:xfrm>
            <a:off x="792825" y="1629188"/>
            <a:ext cx="3876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5"/>
          <p:cNvSpPr txBox="1"/>
          <p:nvPr>
            <p:ph idx="2" type="title"/>
          </p:nvPr>
        </p:nvSpPr>
        <p:spPr>
          <a:xfrm>
            <a:off x="4298725" y="2743425"/>
            <a:ext cx="3929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3" name="Google Shape;113;p45"/>
          <p:cNvSpPr txBox="1"/>
          <p:nvPr>
            <p:ph idx="3" type="subTitle"/>
          </p:nvPr>
        </p:nvSpPr>
        <p:spPr>
          <a:xfrm>
            <a:off x="4298725" y="3498224"/>
            <a:ext cx="3929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4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6" name="Google Shape;116;p46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46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46"/>
          <p:cNvSpPr txBox="1"/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19" name="Google Shape;119;p46"/>
          <p:cNvSpPr txBox="1"/>
          <p:nvPr>
            <p:ph idx="1" type="subTitle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0" name="Google Shape;120;p46" title="Sin título-9.png"/>
          <p:cNvPicPr preferRelativeResize="0"/>
          <p:nvPr/>
        </p:nvPicPr>
        <p:blipFill rotWithShape="1">
          <a:blip r:embed="rId4">
            <a:alphaModFix/>
          </a:blip>
          <a:srcRect b="47107" l="19763" r="19447" t="14676"/>
          <a:stretch/>
        </p:blipFill>
        <p:spPr>
          <a:xfrm>
            <a:off x="4549250" y="1778300"/>
            <a:ext cx="3953100" cy="24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6"/>
          <p:cNvSpPr txBox="1"/>
          <p:nvPr/>
        </p:nvSpPr>
        <p:spPr>
          <a:xfrm>
            <a:off x="4865450" y="2464525"/>
            <a:ext cx="33207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This presentation template was created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and includes icons, infographics &amp; images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5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24" name="Google Shape;124;p51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51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27" name="Google Shape;127;p5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5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30" name="Google Shape;130;p52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52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" name="Google Shape;132;p52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3" name="Google Shape;133;p52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52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53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37" name="Google Shape;137;p53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53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53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5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2" name="Google Shape;142;p54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54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54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6" name="Google Shape;146;p54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55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9" name="Google Shape;149;p55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55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p55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2" name="Google Shape;152;p55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5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56" name="Google Shape;156;p57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57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" name="Google Shape;158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5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58" title="Sin título-7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58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b="0" i="0" sz="3200" u="none" cap="none" strike="noStrik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b="0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4400">
                <a:latin typeface="Roboto Mono"/>
                <a:ea typeface="Roboto Mono"/>
                <a:cs typeface="Roboto Mono"/>
                <a:sym typeface="Roboto Mono"/>
              </a:rPr>
              <a:t>Паттерны: Стратегия, Шаблонный метод</a:t>
            </a:r>
            <a:endParaRPr b="1" sz="4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9" name="Google Shape;169;p1"/>
          <p:cNvSpPr txBox="1"/>
          <p:nvPr>
            <p:ph idx="1" type="subTitle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Подготовили студенты 5030102/40001</a:t>
            </a:r>
            <a:br>
              <a:rPr lang="en"/>
            </a:br>
            <a:r>
              <a:rPr lang="en"/>
              <a:t>Антонова Ольга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Бородина Анастасия</a:t>
            </a:r>
            <a:br>
              <a:rPr lang="en"/>
            </a:br>
            <a:endParaRPr/>
          </a:p>
        </p:txBody>
      </p:sp>
      <p:pic>
        <p:nvPicPr>
          <p:cNvPr id="170" name="Google Shape;17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675" y="1339225"/>
            <a:ext cx="2816376" cy="27292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Table of contents</a:t>
            </a:r>
            <a:endParaRPr b="0"/>
          </a:p>
        </p:txBody>
      </p:sp>
      <p:sp>
        <p:nvSpPr>
          <p:cNvPr id="176" name="Google Shape;176;p3"/>
          <p:cNvSpPr txBox="1"/>
          <p:nvPr>
            <p:ph idx="1" type="subTitle"/>
          </p:nvPr>
        </p:nvSpPr>
        <p:spPr>
          <a:xfrm>
            <a:off x="1107250" y="1796625"/>
            <a:ext cx="39687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Roboto Mono"/>
                <a:ea typeface="Roboto Mono"/>
                <a:cs typeface="Roboto Mono"/>
                <a:sym typeface="Roboto Mono"/>
              </a:rPr>
              <a:t>Поведенческие паттерны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7" name="Google Shape;177;p3"/>
          <p:cNvSpPr txBox="1"/>
          <p:nvPr>
            <p:ph idx="2" type="subTitle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Roboto Mono"/>
                <a:ea typeface="Roboto Mono"/>
                <a:cs typeface="Roboto Mono"/>
                <a:sym typeface="Roboto Mono"/>
              </a:rPr>
              <a:t>Паттерн: Strategy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8" name="Google Shape;178;p3"/>
          <p:cNvSpPr txBox="1"/>
          <p:nvPr>
            <p:ph idx="3" type="subTitle"/>
          </p:nvPr>
        </p:nvSpPr>
        <p:spPr>
          <a:xfrm>
            <a:off x="1107250" y="3089050"/>
            <a:ext cx="55053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Roboto Mono"/>
                <a:ea typeface="Roboto Mono"/>
                <a:cs typeface="Roboto Mono"/>
                <a:sym typeface="Roboto Mono"/>
              </a:rPr>
              <a:t>Паттерн: Template Method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3"/>
          <p:cNvSpPr txBox="1"/>
          <p:nvPr>
            <p:ph idx="4" type="subTitle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Roboto Mono"/>
                <a:ea typeface="Roboto Mono"/>
                <a:cs typeface="Roboto Mono"/>
                <a:sym typeface="Roboto Mono"/>
              </a:rPr>
              <a:t>Заключение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0" name="Google Shape;180;p3"/>
          <p:cNvSpPr txBox="1"/>
          <p:nvPr>
            <p:ph idx="9" type="title"/>
          </p:nvPr>
        </p:nvSpPr>
        <p:spPr>
          <a:xfrm>
            <a:off x="341850" y="3620950"/>
            <a:ext cx="7653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1" name="Google Shape;181;p3"/>
          <p:cNvSpPr txBox="1"/>
          <p:nvPr>
            <p:ph idx="13" type="title"/>
          </p:nvPr>
        </p:nvSpPr>
        <p:spPr>
          <a:xfrm>
            <a:off x="341850" y="2442825"/>
            <a:ext cx="765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2" name="Google Shape;182;p3"/>
          <p:cNvSpPr txBox="1"/>
          <p:nvPr>
            <p:ph idx="14" type="title"/>
          </p:nvPr>
        </p:nvSpPr>
        <p:spPr>
          <a:xfrm>
            <a:off x="342575" y="1687825"/>
            <a:ext cx="764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3" name="Google Shape;183;p3"/>
          <p:cNvSpPr txBox="1"/>
          <p:nvPr>
            <p:ph idx="15" type="title"/>
          </p:nvPr>
        </p:nvSpPr>
        <p:spPr>
          <a:xfrm>
            <a:off x="341850" y="3087300"/>
            <a:ext cx="765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2e882de42_1_30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Поведенческие паттерны заботятся об эффективной коммуникации между объектами.</a:t>
            </a:r>
            <a:endParaRPr/>
          </a:p>
        </p:txBody>
      </p:sp>
      <p:sp>
        <p:nvSpPr>
          <p:cNvPr id="189" name="Google Shape;189;g3d2e882de42_1_30"/>
          <p:cNvSpPr txBox="1"/>
          <p:nvPr>
            <p:ph type="title"/>
          </p:nvPr>
        </p:nvSpPr>
        <p:spPr>
          <a:xfrm>
            <a:off x="1557875" y="1532500"/>
            <a:ext cx="3761700" cy="15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600">
                <a:latin typeface="Roboto Mono"/>
                <a:ea typeface="Roboto Mono"/>
                <a:cs typeface="Roboto Mono"/>
                <a:sym typeface="Roboto Mono"/>
              </a:rPr>
              <a:t>Поведенческие паттерны</a:t>
            </a:r>
            <a:endParaRPr sz="36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0" name="Google Shape;190;g3d2e882de42_1_30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191" name="Google Shape;191;g3d2e882de42_1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150" y="264025"/>
            <a:ext cx="3519699" cy="351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Что такое Паттерн?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7" name="Google Shape;197;p6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Паттерн проектирования — это часто встречающееся решение определённой проблемы при проектировании архитектуры программ. Паттерны часто путают с алгоритмами, ведь оба понятия описывают типовые решения каких-то известных проблем. Но если алгоритм — это чёткий набор действий, то паттерн — это высокоуровневое описание решения, реализация которого может отличаться в двух разных программах. В этой </a:t>
            </a: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презентации</a:t>
            </a: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 будут рассмотрена одна из групп паттернов: поведенческие паттерны заботятся об эффективной коммуникации между объектами.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Стратегия — это поведенческий паттерн проектирования.</a:t>
            </a:r>
            <a:endParaRPr/>
          </a:p>
        </p:txBody>
      </p:sp>
      <p:sp>
        <p:nvSpPr>
          <p:cNvPr id="203" name="Google Shape;203;p5"/>
          <p:cNvSpPr txBox="1"/>
          <p:nvPr>
            <p:ph type="title"/>
          </p:nvPr>
        </p:nvSpPr>
        <p:spPr>
          <a:xfrm>
            <a:off x="1557875" y="2119800"/>
            <a:ext cx="38889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600">
                <a:latin typeface="Roboto Mono"/>
                <a:ea typeface="Roboto Mono"/>
                <a:cs typeface="Roboto Mono"/>
                <a:sym typeface="Roboto Mono"/>
              </a:rPr>
              <a:t>Паттерн: Strategy</a:t>
            </a:r>
            <a:endParaRPr sz="3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3600"/>
          </a:p>
        </p:txBody>
      </p:sp>
      <p:sp>
        <p:nvSpPr>
          <p:cNvPr id="204" name="Google Shape;204;p5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/>
          <p:cNvSpPr txBox="1"/>
          <p:nvPr>
            <p:ph type="title"/>
          </p:nvPr>
        </p:nvSpPr>
        <p:spPr>
          <a:xfrm>
            <a:off x="3789425" y="795800"/>
            <a:ext cx="45477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Структура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0" name="Google Shape;210;p4"/>
          <p:cNvSpPr txBox="1"/>
          <p:nvPr>
            <p:ph idx="1" type="body"/>
          </p:nvPr>
        </p:nvSpPr>
        <p:spPr>
          <a:xfrm>
            <a:off x="3789425" y="1395850"/>
            <a:ext cx="4940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Контекст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Стратегия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Конкретные стратегии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Вызовы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Объект стратегии</a:t>
            </a:r>
            <a:endParaRPr/>
          </a:p>
        </p:txBody>
      </p:sp>
      <p:grpSp>
        <p:nvGrpSpPr>
          <p:cNvPr id="211" name="Google Shape;211;p4"/>
          <p:cNvGrpSpPr/>
          <p:nvPr/>
        </p:nvGrpSpPr>
        <p:grpSpPr>
          <a:xfrm>
            <a:off x="389019" y="1048311"/>
            <a:ext cx="3319592" cy="296617"/>
            <a:chOff x="511225" y="947025"/>
            <a:chExt cx="2971350" cy="265500"/>
          </a:xfrm>
        </p:grpSpPr>
        <p:pic>
          <p:nvPicPr>
            <p:cNvPr id="212" name="Google Shape;212;p4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60128" r="0" t="0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4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60128" r="0" t="0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4" name="Google Shape;21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025" y="1344800"/>
            <a:ext cx="3319576" cy="279145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"/>
          <p:cNvSpPr/>
          <p:nvPr/>
        </p:nvSpPr>
        <p:spPr>
          <a:xfrm>
            <a:off x="406675" y="1359475"/>
            <a:ext cx="3301800" cy="279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 txBox="1"/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Примеры применимости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1" name="Google Shape;221;p7"/>
          <p:cNvSpPr txBox="1"/>
          <p:nvPr>
            <p:ph idx="3" type="subTitle"/>
          </p:nvPr>
        </p:nvSpPr>
        <p:spPr>
          <a:xfrm>
            <a:off x="3577950" y="1902688"/>
            <a:ext cx="38655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Стратегия позволяет вынести отличающееся поведение в отдельную иерархию классов, а затем свести первоначальные классы к одному, сделав поведение этого класса настраиваемым.</a:t>
            </a:r>
            <a:endParaRPr/>
          </a:p>
        </p:txBody>
      </p:sp>
      <p:sp>
        <p:nvSpPr>
          <p:cNvPr id="222" name="Google Shape;222;p7"/>
          <p:cNvSpPr txBox="1"/>
          <p:nvPr>
            <p:ph idx="4" type="subTitle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Стратегия позволяет изолировать код, данные и зависимости алгоритмов от других объектов, скрыв эти детали внутри классов-стратегий.</a:t>
            </a:r>
            <a:endParaRPr/>
          </a:p>
        </p:txBody>
      </p:sp>
      <p:sp>
        <p:nvSpPr>
          <p:cNvPr id="223" name="Google Shape;223;p7"/>
          <p:cNvSpPr txBox="1"/>
          <p:nvPr>
            <p:ph idx="1" type="subTitle"/>
          </p:nvPr>
        </p:nvSpPr>
        <p:spPr>
          <a:xfrm>
            <a:off x="3577950" y="1330000"/>
            <a:ext cx="445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1300">
                <a:solidFill>
                  <a:srgbClr val="444444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Когда у вас есть множество похожих классов, отличающихся только некоторым поведением.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4" name="Google Shape;224;p7"/>
          <p:cNvSpPr txBox="1"/>
          <p:nvPr>
            <p:ph idx="2" type="subTitle"/>
          </p:nvPr>
        </p:nvSpPr>
        <p:spPr>
          <a:xfrm>
            <a:off x="3539999" y="3067775"/>
            <a:ext cx="494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1300">
                <a:solidFill>
                  <a:srgbClr val="444444"/>
                </a:solidFill>
                <a:latin typeface="Roboto Mono"/>
                <a:ea typeface="Roboto Mono"/>
                <a:cs typeface="Roboto Mono"/>
                <a:sym typeface="Roboto Mono"/>
              </a:rPr>
              <a:t>Когда вы не хотите обнажать детали реализации алгоритмов для других классов.</a:t>
            </a:r>
            <a:endParaRPr b="1" sz="1300">
              <a:solidFill>
                <a:srgbClr val="44444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2e882de42_1_50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Определите алгоритм, который подвержен частым изменениям.</a:t>
            </a:r>
            <a:r>
              <a:rPr lang="en" sz="1600"/>
              <a:t>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Создайте интерфейс стратегий, описывающий этот алгоритм.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Поместите вариации алгоритма в собственные классы, которые реализуют этот интерфейс.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В классе контекста создайте поле для хранения ссылки на текущий объект-стратегию, а также метод для её изменения. </a:t>
            </a:r>
            <a:endParaRPr sz="1600"/>
          </a:p>
        </p:txBody>
      </p:sp>
      <p:sp>
        <p:nvSpPr>
          <p:cNvPr id="230" name="Google Shape;230;g3d2e882de42_1_50"/>
          <p:cNvSpPr txBox="1"/>
          <p:nvPr>
            <p:ph type="title"/>
          </p:nvPr>
        </p:nvSpPr>
        <p:spPr>
          <a:xfrm>
            <a:off x="400525" y="731325"/>
            <a:ext cx="78666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3200">
                <a:latin typeface="Roboto Mono"/>
                <a:ea typeface="Roboto Mono"/>
                <a:cs typeface="Roboto Mono"/>
                <a:sym typeface="Roboto Mono"/>
              </a:rPr>
              <a:t>Шаги реализации</a:t>
            </a:r>
            <a:endParaRPr sz="3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Преимущества и недостатки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6" name="Google Shape;236;p9"/>
          <p:cNvSpPr txBox="1"/>
          <p:nvPr>
            <p:ph idx="1" type="subTitle"/>
          </p:nvPr>
        </p:nvSpPr>
        <p:spPr>
          <a:xfrm>
            <a:off x="223075" y="1472412"/>
            <a:ext cx="25794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Горячая замена алгоритмов на лету.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"/>
            </a:b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Позволяет изменять поведение объекта непосредственно во время выполнения программы. Вы можете подменить алгоритм «на лету» без необходимости перезапуска приложения или сложной перенастройки.</a:t>
            </a:r>
            <a:endParaRPr/>
          </a:p>
        </p:txBody>
      </p:sp>
      <p:sp>
        <p:nvSpPr>
          <p:cNvPr id="237" name="Google Shape;237;p9"/>
          <p:cNvSpPr txBox="1"/>
          <p:nvPr>
            <p:ph idx="2" type="subTitle"/>
          </p:nvPr>
        </p:nvSpPr>
        <p:spPr>
          <a:xfrm>
            <a:off x="3144250" y="1566126"/>
            <a:ext cx="2579400" cy="26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Уход от наследования к делегированию.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"/>
            </a:b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Паттерн помогает избежать создания огромной иерархии классов. Вместо того чтобы создавать подкласс для каждого возможного сочетания алгоритмов (что приводит к комбинаторному взрыву классов), вы просто делегируете задачу отдельному объекту-стратегии.</a:t>
            </a:r>
            <a:endParaRPr/>
          </a:p>
        </p:txBody>
      </p:sp>
      <p:sp>
        <p:nvSpPr>
          <p:cNvPr id="238" name="Google Shape;238;p9"/>
          <p:cNvSpPr txBox="1"/>
          <p:nvPr>
            <p:ph idx="5" type="subTitle"/>
          </p:nvPr>
        </p:nvSpPr>
        <p:spPr>
          <a:xfrm>
            <a:off x="5984750" y="1361968"/>
            <a:ext cx="2579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Усложняет программу за счёт дополнительных классов.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"/>
            </a:br>
            <a:r>
              <a:rPr lang="en"/>
              <a:t>Для каждого алгоритма приходится создавать отдельный класс. Если в приложении используется множество стратегий, количество файлов в проекте может значительно вырасти, что усложняет навигацию.</a:t>
            </a:r>
            <a:endParaRPr/>
          </a:p>
        </p:txBody>
      </p:sp>
      <p:grpSp>
        <p:nvGrpSpPr>
          <p:cNvPr id="239" name="Google Shape;239;p9"/>
          <p:cNvGrpSpPr/>
          <p:nvPr/>
        </p:nvGrpSpPr>
        <p:grpSpPr>
          <a:xfrm>
            <a:off x="330938" y="1216079"/>
            <a:ext cx="293113" cy="218588"/>
            <a:chOff x="5216456" y="3725484"/>
            <a:chExt cx="356195" cy="265631"/>
          </a:xfrm>
        </p:grpSpPr>
        <p:sp>
          <p:nvSpPr>
            <p:cNvPr id="240" name="Google Shape;240;p9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42" name="Google Shape;242;p9"/>
          <p:cNvGrpSpPr/>
          <p:nvPr/>
        </p:nvGrpSpPr>
        <p:grpSpPr>
          <a:xfrm>
            <a:off x="3225876" y="1257204"/>
            <a:ext cx="293113" cy="218588"/>
            <a:chOff x="5216456" y="3725484"/>
            <a:chExt cx="356195" cy="265631"/>
          </a:xfrm>
        </p:grpSpPr>
        <p:sp>
          <p:nvSpPr>
            <p:cNvPr id="243" name="Google Shape;243;p9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4" name="Google Shape;244;p9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45" name="Google Shape;245;p9"/>
          <p:cNvGrpSpPr/>
          <p:nvPr/>
        </p:nvGrpSpPr>
        <p:grpSpPr>
          <a:xfrm>
            <a:off x="6092594" y="1186621"/>
            <a:ext cx="281021" cy="282036"/>
            <a:chOff x="5779408" y="3699191"/>
            <a:chExt cx="317645" cy="318757"/>
          </a:xfrm>
        </p:grpSpPr>
        <p:sp>
          <p:nvSpPr>
            <p:cNvPr id="246" name="Google Shape;246;p9"/>
            <p:cNvSpPr/>
            <p:nvPr/>
          </p:nvSpPr>
          <p:spPr>
            <a:xfrm>
              <a:off x="5892837" y="3700334"/>
              <a:ext cx="204216" cy="317614"/>
            </a:xfrm>
            <a:custGeom>
              <a:rect b="b" l="l" r="r" t="t"/>
              <a:pathLst>
                <a:path extrusionOk="0" h="10002" w="6431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7" name="Google Shape;247;p9"/>
            <p:cNvSpPr/>
            <p:nvPr/>
          </p:nvSpPr>
          <p:spPr>
            <a:xfrm>
              <a:off x="5779408" y="3699191"/>
              <a:ext cx="195134" cy="316883"/>
            </a:xfrm>
            <a:custGeom>
              <a:rect b="b" l="l" r="r" t="t"/>
              <a:pathLst>
                <a:path extrusionOk="0" h="9979" w="6145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41cd58d2b_0_31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Поведенческая и Структурная схема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53" name="Google Shape;253;g3d41cd58d2b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377" y="1456675"/>
            <a:ext cx="6535276" cy="27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g3d41cd58d2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00" y="743275"/>
            <a:ext cx="7388076" cy="40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29e09d87a22a681_0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Шаблонный метод — это поведенческий паттерн проектирования.</a:t>
            </a:r>
            <a:endParaRPr/>
          </a:p>
        </p:txBody>
      </p:sp>
      <p:sp>
        <p:nvSpPr>
          <p:cNvPr id="264" name="Google Shape;264;g129e09d87a22a681_0"/>
          <p:cNvSpPr txBox="1"/>
          <p:nvPr>
            <p:ph type="title"/>
          </p:nvPr>
        </p:nvSpPr>
        <p:spPr>
          <a:xfrm>
            <a:off x="1557875" y="2364035"/>
            <a:ext cx="38889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600">
                <a:latin typeface="Roboto Mono"/>
                <a:ea typeface="Roboto Mono"/>
                <a:cs typeface="Roboto Mono"/>
                <a:sym typeface="Roboto Mono"/>
              </a:rPr>
              <a:t>Паттерн: </a:t>
            </a:r>
            <a:r>
              <a:rPr lang="en" sz="3600">
                <a:latin typeface="Roboto Mono"/>
                <a:ea typeface="Roboto Mono"/>
                <a:cs typeface="Roboto Mono"/>
                <a:sym typeface="Roboto Mono"/>
              </a:rPr>
              <a:t>Template Method</a:t>
            </a:r>
            <a:endParaRPr sz="3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3600"/>
          </a:p>
        </p:txBody>
      </p:sp>
      <p:sp>
        <p:nvSpPr>
          <p:cNvPr id="265" name="Google Shape;265;g129e09d87a22a681_0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29e09d87a22a681_90"/>
          <p:cNvSpPr txBox="1"/>
          <p:nvPr>
            <p:ph type="title"/>
          </p:nvPr>
        </p:nvSpPr>
        <p:spPr>
          <a:xfrm>
            <a:off x="3985625" y="795800"/>
            <a:ext cx="45477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Структура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1" name="Google Shape;271;g129e09d87a22a681_90"/>
          <p:cNvSpPr txBox="1"/>
          <p:nvPr>
            <p:ph idx="1" type="body"/>
          </p:nvPr>
        </p:nvSpPr>
        <p:spPr>
          <a:xfrm>
            <a:off x="3789425" y="1395850"/>
            <a:ext cx="4940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Абстрактный класс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Конкретный класс</a:t>
            </a:r>
            <a:endParaRPr/>
          </a:p>
        </p:txBody>
      </p:sp>
      <p:grpSp>
        <p:nvGrpSpPr>
          <p:cNvPr id="272" name="Google Shape;272;g129e09d87a22a681_90"/>
          <p:cNvGrpSpPr/>
          <p:nvPr/>
        </p:nvGrpSpPr>
        <p:grpSpPr>
          <a:xfrm>
            <a:off x="389019" y="1048311"/>
            <a:ext cx="3319592" cy="296617"/>
            <a:chOff x="511225" y="947025"/>
            <a:chExt cx="2971350" cy="265500"/>
          </a:xfrm>
        </p:grpSpPr>
        <p:pic>
          <p:nvPicPr>
            <p:cNvPr id="273" name="Google Shape;273;g129e09d87a22a681_90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60128" r="0" t="0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g129e09d87a22a681_90" title="Sin título-2.png"/>
            <p:cNvPicPr preferRelativeResize="0"/>
            <p:nvPr/>
          </p:nvPicPr>
          <p:blipFill rotWithShape="1">
            <a:blip r:embed="rId3">
              <a:alphaModFix/>
            </a:blip>
            <a:srcRect b="0" l="60128" r="0" t="0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5" name="Google Shape;275;g129e09d87a22a681_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756" y="1344800"/>
            <a:ext cx="2789420" cy="311759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129e09d87a22a681_90"/>
          <p:cNvSpPr/>
          <p:nvPr/>
        </p:nvSpPr>
        <p:spPr>
          <a:xfrm>
            <a:off x="406675" y="1359475"/>
            <a:ext cx="3301800" cy="311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29e09d87a22a681_116"/>
          <p:cNvSpPr txBox="1"/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Примеры применимости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2" name="Google Shape;282;g129e09d87a22a681_116"/>
          <p:cNvSpPr txBox="1"/>
          <p:nvPr>
            <p:ph idx="3" type="subTitle"/>
          </p:nvPr>
        </p:nvSpPr>
        <p:spPr>
          <a:xfrm>
            <a:off x="589550" y="2641413"/>
            <a:ext cx="38655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Шаблонный метод позволяет подклассам расширять определённые шаги алгоритма через наследование, не меняя при этом структуру алгоритмов, объявленную 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в базовом классе.</a:t>
            </a:r>
            <a:endParaRPr/>
          </a:p>
        </p:txBody>
      </p:sp>
      <p:sp>
        <p:nvSpPr>
          <p:cNvPr id="283" name="Google Shape;283;g129e09d87a22a681_116"/>
          <p:cNvSpPr txBox="1"/>
          <p:nvPr>
            <p:ph idx="4" type="subTitle"/>
          </p:nvPr>
        </p:nvSpPr>
        <p:spPr>
          <a:xfrm>
            <a:off x="4802530" y="2580700"/>
            <a:ext cx="3865500" cy="21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Паттерн шаблонный метод предлагает создать для похожих классов общий суперкласс и оформить в нём главный алгоритм в виде шагов. Отличающиеся шаги можно переопределить в подклассах.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</p:txBody>
      </p:sp>
      <p:sp>
        <p:nvSpPr>
          <p:cNvPr id="284" name="Google Shape;284;g129e09d87a22a681_116"/>
          <p:cNvSpPr txBox="1"/>
          <p:nvPr>
            <p:ph idx="1" type="subTitle"/>
          </p:nvPr>
        </p:nvSpPr>
        <p:spPr>
          <a:xfrm>
            <a:off x="589550" y="1799889"/>
            <a:ext cx="38655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1300">
                <a:solidFill>
                  <a:srgbClr val="444444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Подклассы должны расширять базовый алгоритм, не меняя его структуры.</a:t>
            </a:r>
            <a:endParaRPr b="1" sz="1300">
              <a:solidFill>
                <a:srgbClr val="444444"/>
              </a:solidFill>
              <a:highlight>
                <a:schemeClr val="accent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5" name="Google Shape;285;g129e09d87a22a681_116"/>
          <p:cNvSpPr txBox="1"/>
          <p:nvPr>
            <p:ph idx="2" type="subTitle"/>
          </p:nvPr>
        </p:nvSpPr>
        <p:spPr>
          <a:xfrm>
            <a:off x="4784100" y="1474425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1300">
                <a:solidFill>
                  <a:srgbClr val="444444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Несколько классов, делающих одно </a:t>
            </a:r>
            <a:endParaRPr b="1" sz="1300">
              <a:solidFill>
                <a:srgbClr val="444444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1300">
                <a:solidFill>
                  <a:srgbClr val="444444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и то же с незначительными отличиями. Если вы редактируете один класс, </a:t>
            </a:r>
            <a:endParaRPr b="1" sz="1300">
              <a:solidFill>
                <a:srgbClr val="444444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1300">
                <a:solidFill>
                  <a:srgbClr val="444444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то приходится вносить такие же правки и в остальные классы.</a:t>
            </a:r>
            <a:endParaRPr b="1" sz="1300">
              <a:solidFill>
                <a:srgbClr val="44444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29e09d87a22a681_124"/>
          <p:cNvSpPr txBox="1"/>
          <p:nvPr>
            <p:ph type="title"/>
          </p:nvPr>
        </p:nvSpPr>
        <p:spPr>
          <a:xfrm>
            <a:off x="400525" y="731325"/>
            <a:ext cx="78666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3200">
                <a:latin typeface="Roboto Mono"/>
                <a:ea typeface="Roboto Mono"/>
                <a:cs typeface="Roboto Mono"/>
                <a:sym typeface="Roboto Mono"/>
              </a:rPr>
              <a:t>Шаги реализации</a:t>
            </a:r>
            <a:endParaRPr sz="3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1" name="Google Shape;291;g129e09d87a22a681_124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AutoNum type="arabicPeriod"/>
            </a:pPr>
            <a:r>
              <a:rPr lang="en" sz="1600">
                <a:solidFill>
                  <a:srgbClr val="444444"/>
                </a:solidFill>
                <a:highlight>
                  <a:srgbClr val="FFFFFF"/>
                </a:highlight>
              </a:rPr>
              <a:t>Изучите алгоритм и подумайте, можно ли его разбить на шаги. </a:t>
            </a:r>
            <a:endParaRPr sz="1600"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AutoNum type="arabicPeriod"/>
            </a:pPr>
            <a:r>
              <a:rPr lang="en" sz="1600">
                <a:solidFill>
                  <a:srgbClr val="444444"/>
                </a:solidFill>
                <a:highlight>
                  <a:srgbClr val="FFFFFF"/>
                </a:highlight>
              </a:rPr>
              <a:t>Создайте абстрактный базовый класс. Определите в нём шаблонный метод. </a:t>
            </a:r>
            <a:endParaRPr sz="1600"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AutoNum type="arabicPeriod"/>
            </a:pPr>
            <a:r>
              <a:rPr lang="en" sz="1600">
                <a:solidFill>
                  <a:srgbClr val="444444"/>
                </a:solidFill>
                <a:highlight>
                  <a:srgbClr val="FFFFFF"/>
                </a:highlight>
              </a:rPr>
              <a:t>Добавьте в абстрактный класс методы для каждого из шагов алгоритма. </a:t>
            </a:r>
            <a:endParaRPr sz="1600"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AutoNum type="arabicPeriod"/>
            </a:pPr>
            <a:r>
              <a:rPr lang="en" sz="1600">
                <a:solidFill>
                  <a:srgbClr val="444444"/>
                </a:solidFill>
                <a:highlight>
                  <a:srgbClr val="FFFFFF"/>
                </a:highlight>
              </a:rPr>
              <a:t>Создайте конкретные классы, унаследовав их от абстрактного класса. Реализуйте в них все недостающие шаги.</a:t>
            </a:r>
            <a:endParaRPr sz="1600"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9e09d87a22a681_34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Преимущества и недостатки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7" name="Google Shape;297;g129e09d87a22a681_34"/>
          <p:cNvSpPr txBox="1"/>
          <p:nvPr>
            <p:ph idx="1" type="subTitle"/>
          </p:nvPr>
        </p:nvSpPr>
        <p:spPr>
          <a:xfrm>
            <a:off x="330950" y="1413625"/>
            <a:ext cx="28950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highlight>
                  <a:srgbClr val="FFFFFF"/>
                </a:highlight>
              </a:rPr>
              <a:t>Облегчает повторное использование кода.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highlight>
                  <a:srgbClr val="FFFFFF"/>
                </a:highlight>
              </a:rPr>
              <a:t>Если требуется добавить новый объект достаточно создать новый класс-наследник        и реализовать только уникальные для него шаги.    При этом не нужно копировать уже существующие методы     или изменять код родительского класса.       Это позволяет быстро расширять функциональность программы без риска внести ошибки в уже работающий код.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298" name="Google Shape;298;g129e09d87a22a681_34"/>
          <p:cNvSpPr txBox="1"/>
          <p:nvPr>
            <p:ph idx="2" type="subTitle"/>
          </p:nvPr>
        </p:nvSpPr>
        <p:spPr>
          <a:xfrm>
            <a:off x="3225874" y="1413625"/>
            <a:ext cx="28950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highlight>
                  <a:srgbClr val="FFFFFF"/>
                </a:highlight>
              </a:rPr>
              <a:t>Жёсткое ограничение скелетом существующего алгоритма.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highlight>
                  <a:srgbClr val="FFFFFF"/>
                </a:highlight>
              </a:rPr>
              <a:t>Шаблонный метод объявляется   с ключевым словом </a:t>
            </a:r>
            <a:r>
              <a:rPr lang="en" sz="1050">
                <a:highlight>
                  <a:srgbClr val="EBEEF2"/>
                </a:highlight>
              </a:rPr>
              <a:t>final</a:t>
            </a:r>
            <a:r>
              <a:rPr lang="en">
                <a:highlight>
                  <a:srgbClr val="FFFFFF"/>
                </a:highlight>
              </a:rPr>
              <a:t>,    что запрещает наследникам переопределять его.        Это сделано намеренно — чтобы защитить порядок выполнения шагов. 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299" name="Google Shape;299;g129e09d87a22a681_34"/>
          <p:cNvSpPr txBox="1"/>
          <p:nvPr>
            <p:ph idx="5" type="subTitle"/>
          </p:nvPr>
        </p:nvSpPr>
        <p:spPr>
          <a:xfrm>
            <a:off x="6120825" y="1413625"/>
            <a:ext cx="28110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highlight>
                  <a:srgbClr val="FFFFFF"/>
                </a:highlight>
              </a:rPr>
              <a:t>С ростом количества шагов шаблонный метод становится слишком сложно поддерживать.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highlight>
                  <a:srgbClr val="FFFFFF"/>
                </a:highlight>
              </a:rPr>
              <a:t>С каждым новым вариативным шагом в родительском классе появляется новый абстрактный метод. А это значит,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highlight>
                  <a:srgbClr val="FFFFFF"/>
                </a:highlight>
              </a:rPr>
              <a:t>что каждый конкретный класс обязан предоставить реализацию этого метода.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highlight>
                  <a:srgbClr val="FFFFFF"/>
                </a:highlight>
              </a:rPr>
              <a:t>В результате классы-наследники разрастаются, а разработчику приходится писать много «пустых» или неиспользуемых реализаций.</a:t>
            </a:r>
            <a:endParaRPr>
              <a:highlight>
                <a:srgbClr val="FFFFFF"/>
              </a:highlight>
            </a:endParaRPr>
          </a:p>
        </p:txBody>
      </p:sp>
      <p:grpSp>
        <p:nvGrpSpPr>
          <p:cNvPr id="300" name="Google Shape;300;g129e09d87a22a681_34"/>
          <p:cNvGrpSpPr/>
          <p:nvPr/>
        </p:nvGrpSpPr>
        <p:grpSpPr>
          <a:xfrm>
            <a:off x="429088" y="1263696"/>
            <a:ext cx="293113" cy="218588"/>
            <a:chOff x="5216456" y="3725484"/>
            <a:chExt cx="356195" cy="265631"/>
          </a:xfrm>
        </p:grpSpPr>
        <p:sp>
          <p:nvSpPr>
            <p:cNvPr id="301" name="Google Shape;301;g129e09d87a22a681_34"/>
            <p:cNvSpPr/>
            <p:nvPr/>
          </p:nvSpPr>
          <p:spPr>
            <a:xfrm>
              <a:off x="5216456" y="3814335"/>
              <a:ext cx="296465" cy="176780"/>
            </a:xfrm>
            <a:custGeom>
              <a:rect b="b" l="l" r="r" t="t"/>
              <a:pathLst>
                <a:path extrusionOk="0" h="5567" w="9336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02" name="Google Shape;302;g129e09d87a22a681_34"/>
            <p:cNvSpPr/>
            <p:nvPr/>
          </p:nvSpPr>
          <p:spPr>
            <a:xfrm>
              <a:off x="5304925" y="3725484"/>
              <a:ext cx="267726" cy="170715"/>
            </a:xfrm>
            <a:custGeom>
              <a:rect b="b" l="l" r="r" t="t"/>
              <a:pathLst>
                <a:path extrusionOk="0" h="5376" w="8431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03" name="Google Shape;303;g129e09d87a22a681_34"/>
          <p:cNvGrpSpPr/>
          <p:nvPr/>
        </p:nvGrpSpPr>
        <p:grpSpPr>
          <a:xfrm>
            <a:off x="6228669" y="1238270"/>
            <a:ext cx="281021" cy="282036"/>
            <a:chOff x="5779408" y="3699191"/>
            <a:chExt cx="317645" cy="318757"/>
          </a:xfrm>
        </p:grpSpPr>
        <p:sp>
          <p:nvSpPr>
            <p:cNvPr id="304" name="Google Shape;304;g129e09d87a22a681_34"/>
            <p:cNvSpPr/>
            <p:nvPr/>
          </p:nvSpPr>
          <p:spPr>
            <a:xfrm>
              <a:off x="5892837" y="3700334"/>
              <a:ext cx="204216" cy="317614"/>
            </a:xfrm>
            <a:custGeom>
              <a:rect b="b" l="l" r="r" t="t"/>
              <a:pathLst>
                <a:path extrusionOk="0" h="10002" w="6431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05" name="Google Shape;305;g129e09d87a22a681_34"/>
            <p:cNvSpPr/>
            <p:nvPr/>
          </p:nvSpPr>
          <p:spPr>
            <a:xfrm>
              <a:off x="5779408" y="3699191"/>
              <a:ext cx="195134" cy="316883"/>
            </a:xfrm>
            <a:custGeom>
              <a:rect b="b" l="l" r="r" t="t"/>
              <a:pathLst>
                <a:path extrusionOk="0" h="9979" w="6145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06" name="Google Shape;306;g129e09d87a22a681_34"/>
          <p:cNvGrpSpPr/>
          <p:nvPr/>
        </p:nvGrpSpPr>
        <p:grpSpPr>
          <a:xfrm>
            <a:off x="3319001" y="1231976"/>
            <a:ext cx="281021" cy="282036"/>
            <a:chOff x="5779408" y="3699191"/>
            <a:chExt cx="317645" cy="318757"/>
          </a:xfrm>
        </p:grpSpPr>
        <p:sp>
          <p:nvSpPr>
            <p:cNvPr id="307" name="Google Shape;307;g129e09d87a22a681_34"/>
            <p:cNvSpPr/>
            <p:nvPr/>
          </p:nvSpPr>
          <p:spPr>
            <a:xfrm>
              <a:off x="5892837" y="3700334"/>
              <a:ext cx="204216" cy="317614"/>
            </a:xfrm>
            <a:custGeom>
              <a:rect b="b" l="l" r="r" t="t"/>
              <a:pathLst>
                <a:path extrusionOk="0" h="10002" w="6431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08" name="Google Shape;308;g129e09d87a22a681_34"/>
            <p:cNvSpPr/>
            <p:nvPr/>
          </p:nvSpPr>
          <p:spPr>
            <a:xfrm>
              <a:off x="5779408" y="3699191"/>
              <a:ext cx="195134" cy="316883"/>
            </a:xfrm>
            <a:custGeom>
              <a:rect b="b" l="l" r="r" t="t"/>
              <a:pathLst>
                <a:path extrusionOk="0" h="9979" w="6145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446336aa3_0_16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Поведенческая схема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14" name="Google Shape;314;g3d446336aa3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4575" y="1199925"/>
            <a:ext cx="4134848" cy="358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7aba9c780_0_0"/>
          <p:cNvSpPr txBox="1"/>
          <p:nvPr>
            <p:ph type="title"/>
          </p:nvPr>
        </p:nvSpPr>
        <p:spPr>
          <a:xfrm>
            <a:off x="157725" y="680900"/>
            <a:ext cx="7704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Поведенческая схема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0" name="Google Shape;320;g397aba9c780_0_0"/>
          <p:cNvSpPr txBox="1"/>
          <p:nvPr/>
        </p:nvSpPr>
        <p:spPr>
          <a:xfrm>
            <a:off x="157725" y="1922450"/>
            <a:ext cx="56061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0825" lIns="170825" spcFirstLastPara="1" rIns="170825" wrap="square" tIns="1708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62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BeverageMaker</a:t>
            </a:r>
            <a:r>
              <a:rPr lang="en" sz="1962">
                <a:solidFill>
                  <a:srgbClr val="FFA657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962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tea</a:t>
            </a:r>
            <a:r>
              <a:rPr lang="en" sz="1962">
                <a:solidFill>
                  <a:srgbClr val="FFA657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962">
                <a:solidFill>
                  <a:srgbClr val="D4D4D4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962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962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962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962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Tea</a:t>
            </a:r>
            <a:r>
              <a:rPr lang="en" sz="1962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962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1" name="Google Shape;321;g397aba9c780_0_0"/>
          <p:cNvSpPr txBox="1"/>
          <p:nvPr/>
        </p:nvSpPr>
        <p:spPr>
          <a:xfrm>
            <a:off x="157725" y="2569404"/>
            <a:ext cx="56061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0825" lIns="170825" spcFirstLastPara="1" rIns="170825" wrap="square" tIns="1708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62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tea</a:t>
            </a:r>
            <a:r>
              <a:rPr lang="en" sz="1962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962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makeBeverage</a:t>
            </a:r>
            <a:r>
              <a:rPr lang="en" sz="1962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962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22" name="Google Shape;322;g397aba9c780_0_0"/>
          <p:cNvPicPr preferRelativeResize="0"/>
          <p:nvPr/>
        </p:nvPicPr>
        <p:blipFill rotWithShape="1">
          <a:blip r:embed="rId3">
            <a:alphaModFix/>
          </a:blip>
          <a:srcRect b="12411" l="0" r="49584" t="0"/>
          <a:stretch/>
        </p:blipFill>
        <p:spPr>
          <a:xfrm>
            <a:off x="5027400" y="744150"/>
            <a:ext cx="3875276" cy="39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2e882de42_1_136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Осталось совсем немного</a:t>
            </a:r>
            <a:endParaRPr/>
          </a:p>
        </p:txBody>
      </p:sp>
      <p:sp>
        <p:nvSpPr>
          <p:cNvPr id="328" name="Google Shape;328;g3d2e882de42_1_136"/>
          <p:cNvSpPr txBox="1"/>
          <p:nvPr>
            <p:ph type="title"/>
          </p:nvPr>
        </p:nvSpPr>
        <p:spPr>
          <a:xfrm>
            <a:off x="1557875" y="2404400"/>
            <a:ext cx="38889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800">
                <a:latin typeface="Roboto Mono"/>
                <a:ea typeface="Roboto Mono"/>
                <a:cs typeface="Roboto Mono"/>
                <a:sym typeface="Roboto Mono"/>
              </a:rPr>
              <a:t>Заключение</a:t>
            </a:r>
            <a:endParaRPr sz="2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4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9" name="Google Shape;329;g3d2e882de42_1_136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c8d765094_3_11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Заключительное сравнение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35" name="Google Shape;335;g3dc8d765094_3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013" y="1257200"/>
            <a:ext cx="6255975" cy="354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c8d765094_3_36"/>
          <p:cNvSpPr txBox="1"/>
          <p:nvPr>
            <p:ph type="ctrTitle"/>
          </p:nvPr>
        </p:nvSpPr>
        <p:spPr>
          <a:xfrm>
            <a:off x="404750" y="2090750"/>
            <a:ext cx="6180600" cy="24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200">
                <a:latin typeface="Roboto Mono"/>
                <a:ea typeface="Roboto Mono"/>
                <a:cs typeface="Roboto Mono"/>
                <a:sym typeface="Roboto Mono"/>
              </a:rPr>
              <a:t>Спасибо за внимание!</a:t>
            </a:r>
            <a:endParaRPr b="1" sz="32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41" name="Google Shape;341;g3dc8d765094_3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675" y="1339225"/>
            <a:ext cx="2816376" cy="27292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