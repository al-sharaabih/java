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7" r:id="rId9"/>
    <p:sldId id="268" r:id="rId10"/>
    <p:sldId id="264" r:id="rId11"/>
    <p:sldId id="265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77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3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21253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434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56930" y="3446502"/>
            <a:ext cx="123165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ea typeface="Inter Bold" pitchFamily="34" charset="-122"/>
                <a:cs typeface="Inter Bold" pitchFamily="34" charset="-120"/>
              </a:rPr>
              <a:t>Принципы проектирования SOLID и GRASP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793790" y="44954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113496"/>
            <a:ext cx="13042821" cy="1194673"/>
          </a:xfrm>
          <a:prstGeom prst="roundRect">
            <a:avLst>
              <a:gd name="adj" fmla="val 797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28224" y="5347930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ea typeface="Inter" pitchFamily="34" charset="-122"/>
                <a:cs typeface="Inter" pitchFamily="34" charset="-120"/>
              </a:rPr>
              <a:t>Василенко София</a:t>
            </a:r>
            <a:endParaRPr lang="en-US" sz="1750" dirty="0"/>
          </a:p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ea typeface="Inter" pitchFamily="34" charset="-122"/>
                <a:cs typeface="Inter" pitchFamily="34" charset="-120"/>
              </a:rPr>
              <a:t>Козаченко Анастасия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5633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05552"/>
            <a:ext cx="11666934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FFFFF"/>
                </a:solidFill>
                <a:latin typeface="+mj-lt"/>
                <a:ea typeface="Inter Bold" pitchFamily="34" charset="-122"/>
                <a:cs typeface="Inter Bold" pitchFamily="34" charset="-120"/>
              </a:rPr>
              <a:t>Зачем нужны принципы проектирования</a:t>
            </a:r>
            <a:r>
              <a:rPr lang="en-US" sz="4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?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590318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ea typeface="Inter" pitchFamily="34" charset="-122"/>
                <a:cs typeface="Inter" pitchFamily="34" charset="-120"/>
              </a:rPr>
              <a:t>Инструменты управления сложностью в объектно-ориентированных системах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4161592"/>
            <a:ext cx="13117116" cy="30480"/>
          </a:xfrm>
          <a:prstGeom prst="roundRect">
            <a:avLst>
              <a:gd name="adj" fmla="val 297907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956090" y="3513118"/>
            <a:ext cx="30480" cy="648533"/>
          </a:xfrm>
          <a:prstGeom prst="roundRect">
            <a:avLst>
              <a:gd name="adj" fmla="val 297907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728204" y="3918406"/>
            <a:ext cx="486370" cy="486370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809226" y="395888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5E0DF"/>
                </a:solidFill>
                <a:ea typeface="Inter Bold" pitchFamily="34" charset="-122"/>
                <a:cs typeface="Inter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620328" y="215991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ea typeface="Inter Bold" pitchFamily="34" charset="-122"/>
                <a:cs typeface="Inter Bold" pitchFamily="34" charset="-120"/>
              </a:rPr>
              <a:t>Проблема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2741" y="2621280"/>
            <a:ext cx="5997535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ea typeface="Inter" pitchFamily="34" charset="-122"/>
                <a:cs typeface="Inter" pitchFamily="34" charset="-120"/>
              </a:rPr>
              <a:t>Рост сложности, частые изменения требований, командная разработка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299722" y="4161532"/>
            <a:ext cx="30480" cy="648533"/>
          </a:xfrm>
          <a:prstGeom prst="roundRect">
            <a:avLst>
              <a:gd name="adj" fmla="val 297907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071836" y="3918406"/>
            <a:ext cx="486370" cy="486370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152858" y="395888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5E0DF"/>
                </a:solidFill>
                <a:ea typeface="Inter Bold" pitchFamily="34" charset="-122"/>
                <a:cs typeface="Inter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963960" y="502634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Последствия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316373" y="5487710"/>
            <a:ext cx="5997535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Жёсткая связанность, сложность изменений, рост числа багов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643473" y="3513118"/>
            <a:ext cx="30480" cy="648533"/>
          </a:xfrm>
          <a:prstGeom prst="roundRect">
            <a:avLst>
              <a:gd name="adj" fmla="val 297907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10415588" y="3918406"/>
            <a:ext cx="486370" cy="486370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0496610" y="395888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307592" y="215991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ea typeface="Inter Bold" pitchFamily="34" charset="-122"/>
                <a:cs typeface="Inter Bold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660005" y="2621280"/>
            <a:ext cx="599765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ea typeface="Inter" pitchFamily="34" charset="-122"/>
                <a:cs typeface="Inter" pitchFamily="34" charset="-120"/>
              </a:rPr>
              <a:t>Принципы проектирования — гибкость, расширяемость, читаемость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6642" y="6395085"/>
            <a:ext cx="13117116" cy="1228844"/>
          </a:xfrm>
          <a:prstGeom prst="roundRect">
            <a:avLst>
              <a:gd name="adj" fmla="val 7389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41" y="6719768"/>
            <a:ext cx="270153" cy="2160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58992" y="6654998"/>
            <a:ext cx="1219866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Принципы проектирования — это не строгие правила, а инструменты для контроля сложности и эволюции системы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9717"/>
            <a:ext cx="132164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такое принципы проектирования SOLID и GRASP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230195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06993" y="2797493"/>
            <a:ext cx="6361748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Принципы объектно-ориентированного дизайна. Описывают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структуру классов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зависимостей — как именно реализовать поведение в коде.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6993" y="389393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GRASP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06993" y="4389477"/>
            <a:ext cx="636174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Принципы распределения ответственности. Определяют,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какой объект за что отвечает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уровне архитектуры системы.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69279" y="2324457"/>
            <a:ext cx="6361748" cy="1250633"/>
          </a:xfrm>
          <a:prstGeom prst="roundRect">
            <a:avLst>
              <a:gd name="adj" fmla="val 877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546419" y="2324457"/>
            <a:ext cx="91440" cy="1250633"/>
          </a:xfrm>
          <a:prstGeom prst="roundRect">
            <a:avLst>
              <a:gd name="adj" fmla="val 9279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862649" y="2549247"/>
            <a:ext cx="2846189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GRASP → архитектура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862649" y="3044785"/>
            <a:ext cx="58435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взаимодействия объектов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69279" y="3754993"/>
            <a:ext cx="6361748" cy="1250633"/>
          </a:xfrm>
          <a:prstGeom prst="roundRect">
            <a:avLst>
              <a:gd name="adj" fmla="val 877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546419" y="3754993"/>
            <a:ext cx="91440" cy="1250633"/>
          </a:xfrm>
          <a:prstGeom prst="roundRect">
            <a:avLst>
              <a:gd name="adj" fmla="val 9279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862649" y="3979783"/>
            <a:ext cx="263021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 → реализация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862649" y="4475321"/>
            <a:ext cx="58435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Качество кода и структура классов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69279" y="5185529"/>
            <a:ext cx="6361748" cy="1250633"/>
          </a:xfrm>
          <a:prstGeom prst="roundRect">
            <a:avLst>
              <a:gd name="adj" fmla="val 877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546419" y="5185529"/>
            <a:ext cx="91440" cy="1250633"/>
          </a:xfrm>
          <a:prstGeom prst="roundRect">
            <a:avLst>
              <a:gd name="adj" fmla="val 9279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862649" y="541031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Вместе → гибкость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862649" y="5905857"/>
            <a:ext cx="58435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Дополняют и усиливают друг друга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06993" y="6840974"/>
            <a:ext cx="13216414" cy="798790"/>
          </a:xfrm>
          <a:prstGeom prst="roundRect">
            <a:avLst>
              <a:gd name="adj" fmla="val 1062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23" y="7145298"/>
            <a:ext cx="252413" cy="20193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63266" y="7071360"/>
            <a:ext cx="1235821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GRASP отвечает на вопрос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«кто отвечает за поведение»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 SOLID —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«как это поведение реализовать»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80060"/>
            <a:ext cx="614600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Ключевые принципы GRASP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46014" y="1266825"/>
            <a:ext cx="5805368" cy="3278148"/>
          </a:xfrm>
          <a:prstGeom prst="roundRect">
            <a:avLst>
              <a:gd name="adj" fmla="val 218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638895" y="145970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Expert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638895" y="1868924"/>
            <a:ext cx="5419606" cy="2483168"/>
          </a:xfrm>
          <a:prstGeom prst="roundRect">
            <a:avLst>
              <a:gd name="adj" fmla="val 2877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630442" y="1868924"/>
            <a:ext cx="5436513" cy="2483168"/>
          </a:xfrm>
          <a:prstGeom prst="roundRect">
            <a:avLst>
              <a:gd name="adj" fmla="val 1028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843088" y="2038945"/>
            <a:ext cx="5011222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3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List&lt;Item&gt; items;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getTotalPrice() 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items.stream()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.mapToDouble(Item::getPrice)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.sum();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78898" y="1266825"/>
            <a:ext cx="5805368" cy="3278148"/>
          </a:xfrm>
          <a:prstGeom prst="roundRect">
            <a:avLst>
              <a:gd name="adj" fmla="val 218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571780" y="145970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Creator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71780" y="1868924"/>
            <a:ext cx="5419606" cy="2006917"/>
          </a:xfrm>
          <a:prstGeom prst="roundRect">
            <a:avLst>
              <a:gd name="adj" fmla="val 3560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563326" y="1868924"/>
            <a:ext cx="5436513" cy="2006917"/>
          </a:xfrm>
          <a:prstGeom prst="roundRect">
            <a:avLst>
              <a:gd name="adj" fmla="val 1272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775972" y="2038945"/>
            <a:ext cx="5011222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3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List&lt;Item&gt; items = 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ArrayList&lt;&gt;();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</a:t>
            </a:r>
            <a:r>
              <a:rPr lang="en-US" sz="13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addItem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name, </a:t>
            </a:r>
            <a:r>
              <a:rPr lang="en-US" sz="1300" dirty="0">
                <a:solidFill>
                  <a:srgbClr val="FFCC00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price) 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items.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Item(name, price));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46014" y="4672489"/>
            <a:ext cx="5805368" cy="2325648"/>
          </a:xfrm>
          <a:prstGeom prst="roundRect">
            <a:avLst>
              <a:gd name="adj" fmla="val 307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638895" y="486537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638895" y="5274588"/>
            <a:ext cx="5419606" cy="1530668"/>
          </a:xfrm>
          <a:prstGeom prst="roundRect">
            <a:avLst>
              <a:gd name="adj" fmla="val 4668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1630442" y="5274588"/>
            <a:ext cx="5436513" cy="1530668"/>
          </a:xfrm>
          <a:prstGeom prst="roundRect">
            <a:avLst>
              <a:gd name="adj" fmla="val 1667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843088" y="5444609"/>
            <a:ext cx="5011222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3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OrderController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createOrder() 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логика создания заказа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78898" y="4672489"/>
            <a:ext cx="5805368" cy="2325648"/>
          </a:xfrm>
          <a:prstGeom prst="roundRect">
            <a:avLst>
              <a:gd name="adj" fmla="val 307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571780" y="4865370"/>
            <a:ext cx="311646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Coupling / High Cohesion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71780" y="5274588"/>
            <a:ext cx="5419606" cy="1054418"/>
          </a:xfrm>
          <a:prstGeom prst="roundRect">
            <a:avLst>
              <a:gd name="adj" fmla="val 6776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7563326" y="5274588"/>
            <a:ext cx="5436513" cy="1054418"/>
          </a:xfrm>
          <a:prstGeom prst="roundRect">
            <a:avLst>
              <a:gd name="adj" fmla="val 2420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775972" y="5444609"/>
            <a:ext cx="50112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3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</a:t>
            </a:r>
            <a:r>
              <a:rPr lang="en-US" sz="13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processPayment() {}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46014" y="7141607"/>
            <a:ext cx="11738253" cy="607933"/>
          </a:xfrm>
          <a:prstGeom prst="roundRect">
            <a:avLst>
              <a:gd name="adj" fmla="val 11753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35" y="7388185"/>
            <a:ext cx="212646" cy="17002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998702" y="7311628"/>
            <a:ext cx="110155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дизайн =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связанность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между классами и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 целостность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внутри них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7825"/>
            <a:ext cx="12847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 — принципы проектирования классов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67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принципов объектно-ориентированного дизайна, применяемых на этапе реализации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1481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28224" y="3549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это такое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03967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Набор из 5 принципов ООП, описывающих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структуру классов и зависимостей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31481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51396" y="3549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Основная идея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03967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Минимизировать жёсткие зависимости, делать систему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расширяемой и тестируемой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31481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9874568" y="3549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Связь с GRASP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03967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GRASP определяет ответственность → SOLID реализует её качественно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617964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962055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90145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отвечает за </a:t>
            </a: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качество реализации</a:t>
            </a: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архитектуры, заданной с помощью GRASP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411718"/>
            <a:ext cx="3571399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 — 5 принципов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2791063" y="972979"/>
            <a:ext cx="9033034" cy="1341477"/>
          </a:xfrm>
          <a:prstGeom prst="roundRect">
            <a:avLst>
              <a:gd name="adj" fmla="val 4106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2806303" y="988219"/>
            <a:ext cx="524470" cy="1310997"/>
          </a:xfrm>
          <a:prstGeom prst="roundRect">
            <a:avLst>
              <a:gd name="adj" fmla="val 7014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966323" y="1520785"/>
            <a:ext cx="19669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06497" y="1119307"/>
            <a:ext cx="167354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Responsibility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6497" y="1409462"/>
            <a:ext cx="8286512" cy="758666"/>
          </a:xfrm>
          <a:prstGeom prst="roundRect">
            <a:avLst>
              <a:gd name="adj" fmla="val 7260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3399949" y="1409462"/>
            <a:ext cx="8299609" cy="758666"/>
          </a:xfrm>
          <a:prstGeom prst="roundRect">
            <a:avLst>
              <a:gd name="adj" fmla="val 2593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563779" y="1540550"/>
            <a:ext cx="797194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только логика пользователя */ 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91063" y="2390180"/>
            <a:ext cx="9048274" cy="1341477"/>
          </a:xfrm>
          <a:prstGeom prst="roundRect">
            <a:avLst>
              <a:gd name="adj" fmla="val 4106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2806303" y="2405420"/>
            <a:ext cx="524470" cy="1310997"/>
          </a:xfrm>
          <a:prstGeom prst="roundRect">
            <a:avLst>
              <a:gd name="adj" fmla="val 7014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966323" y="2937986"/>
            <a:ext cx="19669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6497" y="2536508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/ Closed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06497" y="2826663"/>
            <a:ext cx="8286512" cy="758666"/>
          </a:xfrm>
          <a:prstGeom prst="roundRect">
            <a:avLst>
              <a:gd name="adj" fmla="val 7260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399949" y="2826663"/>
            <a:ext cx="8299609" cy="758666"/>
          </a:xfrm>
          <a:prstGeom prst="roundRect">
            <a:avLst>
              <a:gd name="adj" fmla="val 2593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563779" y="2957751"/>
            <a:ext cx="797194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</a:t>
            </a:r>
            <a:r>
              <a:rPr lang="en-US" sz="10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FFCC00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91063" y="3807381"/>
            <a:ext cx="9048274" cy="1175980"/>
          </a:xfrm>
          <a:prstGeom prst="roundRect">
            <a:avLst>
              <a:gd name="adj" fmla="val 4683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806303" y="3822621"/>
            <a:ext cx="524470" cy="1145500"/>
          </a:xfrm>
          <a:prstGeom prst="roundRect">
            <a:avLst>
              <a:gd name="adj" fmla="val 7014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966323" y="4272439"/>
            <a:ext cx="19669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06497" y="3953708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Liskov Substitution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06497" y="4243864"/>
            <a:ext cx="8286512" cy="593169"/>
          </a:xfrm>
          <a:prstGeom prst="roundRect">
            <a:avLst>
              <a:gd name="adj" fmla="val 9285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399949" y="4243864"/>
            <a:ext cx="8299609" cy="593169"/>
          </a:xfrm>
          <a:prstGeom prst="roundRect">
            <a:avLst>
              <a:gd name="adj" fmla="val 3316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563779" y="4374952"/>
            <a:ext cx="7971949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 animals =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new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ArrayList</a:t>
            </a: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91063" y="5059085"/>
            <a:ext cx="9048274" cy="1341477"/>
          </a:xfrm>
          <a:prstGeom prst="roundRect">
            <a:avLst>
              <a:gd name="adj" fmla="val 4106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2806303" y="5074325"/>
            <a:ext cx="524470" cy="1310997"/>
          </a:xfrm>
          <a:prstGeom prst="roundRect">
            <a:avLst>
              <a:gd name="adj" fmla="val 7014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2966323" y="5606891"/>
            <a:ext cx="19669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06497" y="5205413"/>
            <a:ext cx="1738074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Segregation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06497" y="5495568"/>
            <a:ext cx="8286512" cy="758666"/>
          </a:xfrm>
          <a:prstGeom prst="roundRect">
            <a:avLst>
              <a:gd name="adj" fmla="val 7260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3399949" y="5495568"/>
            <a:ext cx="8299609" cy="758666"/>
          </a:xfrm>
          <a:prstGeom prst="roundRect">
            <a:avLst>
              <a:gd name="adj" fmla="val 2593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3563779" y="5626656"/>
            <a:ext cx="797194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</a:t>
            </a:r>
            <a:r>
              <a:rPr lang="en-US" sz="10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Printer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r>
              <a:rPr lang="en-US" sz="10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91063" y="6476286"/>
            <a:ext cx="9048274" cy="1341477"/>
          </a:xfrm>
          <a:prstGeom prst="roundRect">
            <a:avLst>
              <a:gd name="adj" fmla="val 4106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2806303" y="6491526"/>
            <a:ext cx="524470" cy="1310997"/>
          </a:xfrm>
          <a:prstGeom prst="roundRect">
            <a:avLst>
              <a:gd name="adj" fmla="val 7014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2966323" y="7024092"/>
            <a:ext cx="19669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06497" y="6622613"/>
            <a:ext cx="179593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Dependency Inversion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406497" y="6912769"/>
            <a:ext cx="8286512" cy="758666"/>
          </a:xfrm>
          <a:prstGeom prst="roundRect">
            <a:avLst>
              <a:gd name="adj" fmla="val 7260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3399949" y="6912769"/>
            <a:ext cx="8299609" cy="758666"/>
          </a:xfrm>
          <a:prstGeom prst="roundRect">
            <a:avLst>
              <a:gd name="adj" fmla="val 2593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3563779" y="7043857"/>
            <a:ext cx="797194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00" dirty="0">
                <a:solidFill>
                  <a:srgbClr val="9966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r>
              <a:rPr lang="en-US" sz="1000" dirty="0">
                <a:solidFill>
                  <a:srgbClr val="FF7B72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Database db; // интерфейс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chemeClr val="bg1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B3D747-7A49-BB7D-E2FE-F044A24A0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26" y="1"/>
            <a:ext cx="12266516" cy="8177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455F00F-B07A-4067-93F4-CA3B277C2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263" y="96624"/>
            <a:ext cx="9063873" cy="803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1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80345D-41A3-428C-830F-B734E4967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441" y="75414"/>
            <a:ext cx="9431518" cy="79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76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0463"/>
            <a:ext cx="12689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 и GRASP — сравнение и объединение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9968"/>
            <a:ext cx="4133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Единый процесс разработки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9445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649504"/>
            <a:ext cx="4196358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93790" y="3823811"/>
            <a:ext cx="3699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Проектирование с GRASP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1423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Определяем роли объектов и распределяем ответственность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29445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49504"/>
            <a:ext cx="4196358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216962" y="3823811"/>
            <a:ext cx="2851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Реализация с SOLID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31423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Воплощаем архитектуру в гибком, расширяемом коде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29445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649504"/>
            <a:ext cx="4196358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640133" y="38238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31423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Устойчивая, понятная и легко изменяемая система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465207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09298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30906" y="574869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GRASP </a:t>
            </a: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задаёт архитектуру</a:t>
            </a: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системы, а SOLID </a:t>
            </a: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обеспечивает её устойчивую реализацию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9431"/>
            <a:ext cx="6092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 и применение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208371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945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выводы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435906"/>
            <a:ext cx="4158615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сложностью через принципы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GRASP формирует архитектуру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обеспечивает качество реализации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Используются совместно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208371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945487"/>
            <a:ext cx="39144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Практическое применение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435906"/>
            <a:ext cx="4158615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Backend-разработка (Java, Spring)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Построение API и сервисов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Микросервисная архитектура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Тестируемые и расширяемые системы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208371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945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это важно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435906"/>
            <a:ext cx="415861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Упрощает поддержку и развитие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Снижает количество ошибок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понятен всей команде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Уменьшает стоимость изменений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106358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450449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38984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Качественная архитектура — это результат </a:t>
            </a: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осознанного применения принципов проектирования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7664</TotalTime>
  <Words>523</Words>
  <Application>Microsoft Office PowerPoint</Application>
  <PresentationFormat>Произвольный</PresentationFormat>
  <Paragraphs>129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Inter</vt:lpstr>
      <vt:lpstr>Inter Light</vt:lpstr>
      <vt:lpstr>Inter Bold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Admin</dc:creator>
  <cp:lastModifiedBy>t37774</cp:lastModifiedBy>
  <cp:revision>9</cp:revision>
  <dcterms:created xsi:type="dcterms:W3CDTF">2026-04-16T05:45:05Z</dcterms:created>
  <dcterms:modified xsi:type="dcterms:W3CDTF">2026-05-22T14:11:33Z</dcterms:modified>
</cp:coreProperties>
</file>