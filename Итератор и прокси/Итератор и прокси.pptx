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3E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A41DE-4AD3-4684-8E61-9BF3EE62A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730037-EB99-48F1-AAD5-89D0C8F86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DD068-7AC8-48B0-8C8D-189B516D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D838C9-003E-4A75-BEFB-84C0D58E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9FD68B-C291-4F05-9612-25D76195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571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B9D3E-F7D1-4490-9A45-3D0B6A3B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EAE302-62D0-4DBD-855E-6EDF39FFB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0E9F6A-BA53-4AD9-9720-4FCBB823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A8B7D-8D59-45D4-8CBF-CCA3DAA9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48FEC-FB04-4644-8497-DF99260F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8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30C26-8314-408A-BC01-96772248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F2B26B-4AA8-4715-8FB9-0D537D26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16C15-5BF0-4164-B27B-F4FDBB0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BD1228-4624-43B7-92C4-FD895312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29A466-9957-4990-8843-F23C4B4D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67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508AC-5EA1-48FF-BEDB-5F8EF07C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9326FB-2FC8-480E-86CE-2FF35CEE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7C75CD-D7AD-4292-99B3-74BB84C13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A871ED-2E1B-4F0F-97ED-5B410E09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07A61D-70A8-4453-984F-537B868C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0999BD-0CB2-4E9A-BAA6-A1C553B7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91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CF0E3-7D6E-4448-9182-E34DA449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E1AD95-C265-4303-B834-B089D579C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E35D2F-6372-4A83-9387-8A986CB11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54549C-5531-477C-B4F4-F79BDE044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0A13043-1311-4A8D-8F85-D32881D89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2049BA-AAC8-43DE-8598-A8627B20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7F04D4-7486-48EE-81BC-ABD28BE6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097950-0914-4DAE-998A-1C7D19B0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0C800-AB9F-43DB-B0BB-849D7E85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EDEB3D-9DB4-4011-8C96-F1571BC6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CC36B8-15AB-4198-B205-B9817473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20AB4D-74C1-472E-9273-7E3C20D7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22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6C99063-DFDC-41B1-BE08-978142CE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58ED61-A95A-4924-B02D-2B6772BD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D789FB-AF50-409C-B90B-924666EE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80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2FA89-2FEE-48B5-BFBF-B08E9A46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342B7-80E1-4B64-A821-06FF6AEAF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9F5F94-AF1A-4AB7-A7A1-90974E547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317F62-23D7-4ED8-9E78-9BCE263C9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A00A14-3E42-44F5-BA4B-698BEA48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A5ECF8-886A-4C0A-8998-DF0CF361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7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78A1F-7844-4FD3-BEEC-8C5BDA63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4BC1AC-52D9-4E45-9885-B3FE0AFF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A0B645-C70E-49DE-A5AA-EDC32D9A3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70F41C-8183-4F7E-A66C-DFDFCBA1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C548B9-39D7-4F9B-844E-10A1F424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4AB8FD-ED5A-47F1-BA07-8C3AA600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72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5C9A9-C1AC-4941-A9EF-0448C7B3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8F2A84-898A-41DE-B2E5-89F8561FE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A49C55-6250-4AF8-ADA7-03210405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38794A-C081-433A-AECB-AE28ABE8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FB12D-D646-472A-88ED-3EFAB27F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8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5031A-19C5-4E87-B9A9-F251989D2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8A70A2-5151-4FAB-B4B0-3DCF1A60B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F77F8F-F63E-4B40-892D-F7A7EF58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06BED-099E-4BE6-87A3-F1C3BD4A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CB4D34-7275-4E8B-A5B3-280A8501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43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537A8-0711-45C3-B572-34D75A78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2B0AE5-5FD9-4510-89F0-C37A21D5E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96DC6-8F9B-436D-AE2F-3D8C653D5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9725D-8DF6-4262-AD46-E3B68CC9BDA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A88C-E430-41FB-BB59-5FC2A1542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55C0C9-E847-45AA-B8D5-C2DB54FBD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52A4A-ADDF-4484-8F33-1618AE78DA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44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6DC24-A72A-4930-98FB-CDE47E7A1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Паттерн: Итератор</a:t>
            </a:r>
          </a:p>
        </p:txBody>
      </p:sp>
    </p:spTree>
    <p:extLst>
      <p:ext uri="{BB962C8B-B14F-4D97-AF65-F5344CB8AC3E}">
        <p14:creationId xmlns:p14="http://schemas.microsoft.com/office/powerpoint/2010/main" val="3261703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59C4E-E029-4ECE-8B30-B08D4AF8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Что это такое?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1DE9AD-33C9-43CC-BE6B-A4336892D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  <a:t>Итератор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  <a:t> — это поведенческий паттерн проектирования, который даёт возможность последовательно обходить элементы составных объектов, не раскрывая</a:t>
            </a:r>
            <a:b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</a:b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  <a:t>их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  <a:t> 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  <a:cs typeface="Arial" panose="020B0604020202020204" pitchFamily="34" charset="0"/>
              </a:rPr>
              <a:t>внутреннего представления.</a:t>
            </a:r>
            <a:endParaRPr lang="ru-RU" dirty="0">
              <a:latin typeface="PT Sans" panose="020B0503020203020204" pitchFamily="34" charset="-5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74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12BB9-554B-4261-923B-AD84EFEB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чего он нужен?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98119-2350-4FC2-9D73-D78DEE4C9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Идея паттерна Итератор состоит в том, чтобы вынести поведение обхода коллекции из самой коллекции в отдельный класс. Это помогает пользователю не задумываться о способе перемещения по различным структурам данных, а сразу выполнять нужные действия.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19A08C-59A3-4FBD-8BC6-FC81DD3F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68" y="3996812"/>
            <a:ext cx="7983064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2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0FC08-F450-4548-95B1-EA9CDCF5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58671" cy="1325563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Структура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4BB00CC-4B47-4E87-8BAD-72411D5F97BC}"/>
              </a:ext>
            </a:extLst>
          </p:cNvPr>
          <p:cNvGrpSpPr/>
          <p:nvPr/>
        </p:nvGrpSpPr>
        <p:grpSpPr>
          <a:xfrm>
            <a:off x="6826622" y="1650720"/>
            <a:ext cx="4823012" cy="4029294"/>
            <a:chOff x="4338918" y="702515"/>
            <a:chExt cx="6087035" cy="5452969"/>
          </a:xfrm>
        </p:grpSpPr>
        <p:pic>
          <p:nvPicPr>
            <p:cNvPr id="1026" name="Picture 2" descr="Структура классов паттерна Итератор">
              <a:extLst>
                <a:ext uri="{FF2B5EF4-FFF2-40B4-BE49-F238E27FC236}">
                  <a16:creationId xmlns:a16="http://schemas.microsoft.com/office/drawing/2014/main" id="{61E94447-68C4-460B-A1FB-CAE22E35C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8918" y="702515"/>
              <a:ext cx="6087035" cy="5452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38D45677-5CB0-4A32-A1B1-578419C8E405}"/>
                </a:ext>
              </a:extLst>
            </p:cNvPr>
            <p:cNvSpPr/>
            <p:nvPr/>
          </p:nvSpPr>
          <p:spPr>
            <a:xfrm>
              <a:off x="6813176" y="869576"/>
              <a:ext cx="1111624" cy="277906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100" b="1" dirty="0">
                  <a:solidFill>
                    <a:srgbClr val="3E3E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Клиент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8BD8AB0-7CD1-4855-816E-31892722B184}"/>
                </a:ext>
              </a:extLst>
            </p:cNvPr>
            <p:cNvSpPr/>
            <p:nvPr/>
          </p:nvSpPr>
          <p:spPr>
            <a:xfrm>
              <a:off x="7924800" y="1642222"/>
              <a:ext cx="2339788" cy="518271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100" b="1" dirty="0">
                  <a:solidFill>
                    <a:srgbClr val="3E3E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Интерфейс Коллекции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C691C326-200D-4074-9CFF-7AE4ED2A00E5}"/>
                </a:ext>
              </a:extLst>
            </p:cNvPr>
            <p:cNvSpPr/>
            <p:nvPr/>
          </p:nvSpPr>
          <p:spPr>
            <a:xfrm>
              <a:off x="5172635" y="1642223"/>
              <a:ext cx="1246093" cy="518271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100" b="1" dirty="0">
                  <a:solidFill>
                    <a:srgbClr val="3E3E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Интерфейс Итератора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1C0DE26-33C6-4074-BD4A-3FAA83A91689}"/>
                </a:ext>
              </a:extLst>
            </p:cNvPr>
            <p:cNvSpPr/>
            <p:nvPr/>
          </p:nvSpPr>
          <p:spPr>
            <a:xfrm>
              <a:off x="7924800" y="3908612"/>
              <a:ext cx="2339789" cy="313763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100" b="1" dirty="0">
                  <a:solidFill>
                    <a:srgbClr val="3E3E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Конкретная Коллекция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DECF00C-C90C-4571-B7E2-52BE96AF0F37}"/>
                </a:ext>
              </a:extLst>
            </p:cNvPr>
            <p:cNvSpPr/>
            <p:nvPr/>
          </p:nvSpPr>
          <p:spPr>
            <a:xfrm>
              <a:off x="4693022" y="3908612"/>
              <a:ext cx="2339788" cy="313763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100" b="1" dirty="0">
                  <a:solidFill>
                    <a:srgbClr val="3E3E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Конкретный Итератор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49A9A7C-F78E-4621-A3D1-27C5C3EB59F5}"/>
              </a:ext>
            </a:extLst>
          </p:cNvPr>
          <p:cNvSpPr txBox="1"/>
          <p:nvPr/>
        </p:nvSpPr>
        <p:spPr>
          <a:xfrm>
            <a:off x="721658" y="1514162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Итератор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описывает интерфейс для доступа и обхода элементов коллекции.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16748A-07E5-4AEA-BBAE-F3E15D1D9EE0}"/>
              </a:ext>
            </a:extLst>
          </p:cNvPr>
          <p:cNvSpPr txBox="1"/>
          <p:nvPr/>
        </p:nvSpPr>
        <p:spPr>
          <a:xfrm>
            <a:off x="721658" y="2373209"/>
            <a:ext cx="6104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Конкретный итератор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реализует алгоритм обхода какой-то конкретной коллекции. Объект итератора должен сам отслеживать текущую позицию при обходе коллекции, чтобы отдельные итераторы могли обходить одну и ту же коллекцию независимо.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ACC584-1D81-486B-A829-DC8AF9D1CD68}"/>
              </a:ext>
            </a:extLst>
          </p:cNvPr>
          <p:cNvSpPr txBox="1"/>
          <p:nvPr/>
        </p:nvSpPr>
        <p:spPr>
          <a:xfrm>
            <a:off x="721658" y="4063253"/>
            <a:ext cx="6104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Коллекция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описывает интерфейс получения итератора из коллекции. Коллекции не всегда являются списком. Поэтому сама коллекция может создавать итераторы.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C45F7E-09A8-40F5-A19C-2CCE08E74179}"/>
              </a:ext>
            </a:extLst>
          </p:cNvPr>
          <p:cNvSpPr txBox="1"/>
          <p:nvPr/>
        </p:nvSpPr>
        <p:spPr>
          <a:xfrm>
            <a:off x="721658" y="5218349"/>
            <a:ext cx="6104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Конкретная коллекция</a:t>
            </a:r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возвращает новый экземпляр определённого конкретного итератора, связав его с текущим объектом коллекции. </a:t>
            </a:r>
          </a:p>
        </p:txBody>
      </p:sp>
    </p:spTree>
    <p:extLst>
      <p:ext uri="{BB962C8B-B14F-4D97-AF65-F5344CB8AC3E}">
        <p14:creationId xmlns:p14="http://schemas.microsoft.com/office/powerpoint/2010/main" val="249120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4FFF6-4BFB-4FCE-BBE1-DA64248F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каких случаях применяется?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2BFB3-9F8E-4EB8-947F-E6D76FAAD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PT Sans" panose="020B0503020203020204" pitchFamily="34" charset="-52"/>
              </a:rPr>
              <a:t>Когда у вас есть сложная структура данных, и вы хотите скрыть от клиента детали её реализации (из-за сложности или вопросов безопасности).</a:t>
            </a:r>
          </a:p>
          <a:p>
            <a:r>
              <a:rPr lang="ru-RU" dirty="0">
                <a:latin typeface="PT Sans" panose="020B0503020203020204" pitchFamily="34" charset="-52"/>
              </a:rPr>
              <a:t>Когда вам нужно иметь несколько вариантов обхода одной и той же структуры данных.</a:t>
            </a:r>
          </a:p>
          <a:p>
            <a:r>
              <a:rPr lang="ru-RU" dirty="0">
                <a:latin typeface="PT Sans" panose="020B0503020203020204" pitchFamily="34" charset="-52"/>
              </a:rPr>
              <a:t>Когда вам хочется иметь единый интерфейс обхода различных структур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23693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5FD7E-EF8E-476A-857A-5B872A23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Итераторы из библиотеки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java.util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A8210-D3C3-4848-AEDD-6E0F64EA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effectLst/>
                <a:latin typeface="PT Sans" panose="020B0503020203020204" pitchFamily="34" charset="-52"/>
              </a:rPr>
              <a:t>Iterator&lt;E&gt;</a:t>
            </a:r>
            <a:r>
              <a:rPr lang="ru-RU" b="1" dirty="0">
                <a:latin typeface="PT Sans" panose="020B0503020203020204" pitchFamily="34" charset="-52"/>
              </a:rPr>
              <a:t> </a:t>
            </a:r>
            <a:r>
              <a:rPr lang="ru-RU" dirty="0">
                <a:latin typeface="PT Sans" panose="020B0503020203020204" pitchFamily="34" charset="-52"/>
              </a:rPr>
              <a:t>- б</a:t>
            </a:r>
            <a:r>
              <a:rPr lang="ru-RU" b="0" i="0" dirty="0">
                <a:effectLst/>
                <a:latin typeface="PT Sans" panose="020B0503020203020204" pitchFamily="34" charset="-52"/>
              </a:rPr>
              <a:t>азовый итератор</a:t>
            </a:r>
          </a:p>
          <a:p>
            <a:r>
              <a:rPr lang="ru-RU" b="1" dirty="0" err="1">
                <a:latin typeface="PT Sans" panose="020B0503020203020204" pitchFamily="34" charset="-52"/>
              </a:rPr>
              <a:t>ListIterator</a:t>
            </a:r>
            <a:r>
              <a:rPr lang="ru-RU" b="1" dirty="0">
                <a:latin typeface="PT Sans" panose="020B0503020203020204" pitchFamily="34" charset="-52"/>
              </a:rPr>
              <a:t>&lt;E&gt;</a:t>
            </a:r>
            <a:r>
              <a:rPr lang="ru-RU" dirty="0">
                <a:latin typeface="PT Sans" panose="020B0503020203020204" pitchFamily="34" charset="-52"/>
              </a:rPr>
              <a:t> - двунаправленный для списков</a:t>
            </a:r>
          </a:p>
          <a:p>
            <a:r>
              <a:rPr lang="ru-RU" b="1" dirty="0" err="1">
                <a:latin typeface="PT Sans" panose="020B0503020203020204" pitchFamily="34" charset="-52"/>
              </a:rPr>
              <a:t>Spliterator</a:t>
            </a:r>
            <a:r>
              <a:rPr lang="ru-RU" b="1" dirty="0">
                <a:latin typeface="PT Sans" panose="020B0503020203020204" pitchFamily="34" charset="-52"/>
              </a:rPr>
              <a:t>&lt;E&gt; </a:t>
            </a:r>
            <a:r>
              <a:rPr lang="ru-RU" dirty="0">
                <a:latin typeface="PT Sans" panose="020B0503020203020204" pitchFamily="34" charset="-52"/>
              </a:rPr>
              <a:t>- для параллельной обработки </a:t>
            </a:r>
          </a:p>
          <a:p>
            <a:r>
              <a:rPr lang="en-US" b="1" dirty="0" err="1">
                <a:latin typeface="PT Sans" panose="020B0503020203020204" pitchFamily="34" charset="-52"/>
              </a:rPr>
              <a:t>PrimitiveIterator.Of</a:t>
            </a:r>
            <a:r>
              <a:rPr lang="ru-RU" b="1" dirty="0">
                <a:latin typeface="PT Sans" panose="020B0503020203020204" pitchFamily="34" charset="-52"/>
              </a:rPr>
              <a:t>(</a:t>
            </a:r>
            <a:r>
              <a:rPr lang="en-US" b="1" dirty="0">
                <a:latin typeface="PT Sans" panose="020B0503020203020204" pitchFamily="34" charset="-52"/>
              </a:rPr>
              <a:t>Int</a:t>
            </a:r>
            <a:r>
              <a:rPr lang="ru-RU" b="1" dirty="0">
                <a:latin typeface="PT Sans" panose="020B0503020203020204" pitchFamily="34" charset="-52"/>
              </a:rPr>
              <a:t>/</a:t>
            </a:r>
            <a:r>
              <a:rPr lang="en-US" b="1" dirty="0">
                <a:effectLst/>
                <a:latin typeface="PT Sans" panose="020B0503020203020204" pitchFamily="34" charset="-52"/>
              </a:rPr>
              <a:t>Long</a:t>
            </a:r>
            <a:r>
              <a:rPr lang="ru-RU" b="1" dirty="0">
                <a:latin typeface="PT Sans" panose="020B0503020203020204" pitchFamily="34" charset="-52"/>
              </a:rPr>
              <a:t>/</a:t>
            </a:r>
            <a:r>
              <a:rPr lang="en-US" b="1" dirty="0">
                <a:latin typeface="PT Sans" panose="020B0503020203020204" pitchFamily="34" charset="-52"/>
              </a:rPr>
              <a:t>Double)</a:t>
            </a:r>
            <a:r>
              <a:rPr lang="ru-RU" b="1" dirty="0">
                <a:latin typeface="PT Sans" panose="020B0503020203020204" pitchFamily="34" charset="-52"/>
              </a:rPr>
              <a:t> </a:t>
            </a:r>
            <a:r>
              <a:rPr lang="ru-RU" dirty="0">
                <a:latin typeface="PT Sans" panose="020B0503020203020204" pitchFamily="34" charset="-52"/>
              </a:rPr>
              <a:t>– для примитивов</a:t>
            </a:r>
            <a:endParaRPr lang="en-US" dirty="0">
              <a:latin typeface="PT Sans" panose="020B0503020203020204" pitchFamily="34" charset="-52"/>
            </a:endParaRPr>
          </a:p>
          <a:p>
            <a:r>
              <a:rPr lang="en-US" b="1" dirty="0" err="1">
                <a:latin typeface="PT Sans" panose="020B0503020203020204" pitchFamily="34" charset="-52"/>
              </a:rPr>
              <a:t>descendingIterator</a:t>
            </a:r>
            <a:r>
              <a:rPr lang="en-US" b="1" dirty="0">
                <a:latin typeface="PT Sans" panose="020B0503020203020204" pitchFamily="34" charset="-52"/>
              </a:rPr>
              <a:t>() (</a:t>
            </a:r>
            <a:r>
              <a:rPr lang="ru-RU" b="1" dirty="0">
                <a:latin typeface="PT Sans" panose="020B0503020203020204" pitchFamily="34" charset="-52"/>
              </a:rPr>
              <a:t>специальный) </a:t>
            </a:r>
            <a:r>
              <a:rPr lang="ru-RU" dirty="0">
                <a:latin typeface="PT Sans" panose="020B0503020203020204" pitchFamily="34" charset="-52"/>
              </a:rPr>
              <a:t>- Обратный итератор для </a:t>
            </a:r>
            <a:r>
              <a:rPr lang="en-US" dirty="0">
                <a:latin typeface="PT Sans" panose="020B0503020203020204" pitchFamily="34" charset="-52"/>
              </a:rPr>
              <a:t>LinkedList, </a:t>
            </a:r>
            <a:r>
              <a:rPr lang="en-US" dirty="0" err="1">
                <a:latin typeface="PT Sans" panose="020B0503020203020204" pitchFamily="34" charset="-52"/>
              </a:rPr>
              <a:t>TreeSet</a:t>
            </a:r>
            <a:r>
              <a:rPr lang="en-US" dirty="0">
                <a:latin typeface="PT Sans" panose="020B0503020203020204" pitchFamily="34" charset="-52"/>
              </a:rPr>
              <a:t>, </a:t>
            </a:r>
            <a:r>
              <a:rPr lang="en-US" dirty="0" err="1">
                <a:latin typeface="PT Sans" panose="020B0503020203020204" pitchFamily="34" charset="-52"/>
              </a:rPr>
              <a:t>ArrayDeque</a:t>
            </a:r>
            <a:endParaRPr lang="ru-RU" dirty="0">
              <a:latin typeface="PT Sans" panose="020B0503020203020204" pitchFamily="34" charset="-52"/>
            </a:endParaRPr>
          </a:p>
          <a:p>
            <a:r>
              <a:rPr lang="ru-RU" b="1" dirty="0" err="1">
                <a:latin typeface="PT Sans" panose="020B0503020203020204" pitchFamily="34" charset="-52"/>
              </a:rPr>
              <a:t>DirectoryStream</a:t>
            </a:r>
            <a:r>
              <a:rPr lang="ru-RU" dirty="0">
                <a:latin typeface="PT Sans" panose="020B0503020203020204" pitchFamily="34" charset="-52"/>
              </a:rPr>
              <a:t> - для обхода файлов в папке</a:t>
            </a:r>
          </a:p>
          <a:p>
            <a:r>
              <a:rPr lang="ru-RU" b="1" dirty="0" err="1">
                <a:latin typeface="PT Sans" panose="020B0503020203020204" pitchFamily="34" charset="-52"/>
              </a:rPr>
              <a:t>Scanner</a:t>
            </a:r>
            <a:r>
              <a:rPr lang="ru-RU" dirty="0">
                <a:latin typeface="PT Sans" panose="020B0503020203020204" pitchFamily="34" charset="-52"/>
              </a:rPr>
              <a:t> - для чтения токенов</a:t>
            </a:r>
          </a:p>
        </p:txBody>
      </p:sp>
    </p:spTree>
    <p:extLst>
      <p:ext uri="{BB962C8B-B14F-4D97-AF65-F5344CB8AC3E}">
        <p14:creationId xmlns:p14="http://schemas.microsoft.com/office/powerpoint/2010/main" val="150563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1AD1B-0C49-410E-A728-49809725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E89E6-2B52-4064-B66D-8D4CA16B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1965" cy="4351338"/>
          </a:xfrm>
        </p:spPr>
        <p:txBody>
          <a:bodyPr/>
          <a:lstStyle/>
          <a:p>
            <a:r>
              <a:rPr lang="ru-RU" dirty="0"/>
              <a:t>Упрощает классы хранения данных</a:t>
            </a:r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Позволяет реализовать различные способы обхода структуры данных.</a:t>
            </a:r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 Позволяет одновременно перемещаться по структуре данных в разные стороны.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1E53A49-D550-4D95-910C-8FE301FB5530}"/>
              </a:ext>
            </a:extLst>
          </p:cNvPr>
          <p:cNvSpPr txBox="1">
            <a:spLocks/>
          </p:cNvSpPr>
          <p:nvPr/>
        </p:nvSpPr>
        <p:spPr>
          <a:xfrm>
            <a:off x="6459070" y="1825625"/>
            <a:ext cx="49619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rgbClr val="444444"/>
                </a:solidFill>
                <a:effectLst/>
                <a:latin typeface="PT Sans" panose="020B0503020203020204" pitchFamily="34" charset="-52"/>
              </a:rPr>
              <a:t>Не оправдан, если можно обойтись простым циклом.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950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13AF439-23F2-44C3-BB23-A952EADB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426657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8086725" cy="1470025"/>
          </a:xfrm>
        </p:spPr>
        <p:txBody>
          <a:bodyPr>
            <a:normAutofit fontScale="90000"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Паттерн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Proxy (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Заместитель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Казанкин Глеб</a:t>
            </a:r>
          </a:p>
        </p:txBody>
      </p:sp>
    </p:spTree>
    <p:extLst>
      <p:ext uri="{BB962C8B-B14F-4D97-AF65-F5344CB8AC3E}">
        <p14:creationId xmlns:p14="http://schemas.microsoft.com/office/powerpoint/2010/main" val="410954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такое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>
                <a:latin typeface="PT Sans" panose="020B0503020203020204" pitchFamily="34" charset="-52"/>
              </a:rPr>
              <a:t>Proxy</a:t>
            </a:r>
            <a:r>
              <a:rPr lang="ru-RU" b="1" dirty="0">
                <a:latin typeface="PT Sans" panose="020B0503020203020204" pitchFamily="34" charset="-52"/>
              </a:rPr>
              <a:t> </a:t>
            </a:r>
            <a:r>
              <a:rPr lang="ru-RU" dirty="0">
                <a:latin typeface="PT Sans" panose="020B0503020203020204" pitchFamily="34" charset="-52"/>
              </a:rPr>
              <a:t>—  это структурный паттерн проектирования,</a:t>
            </a:r>
            <a:r>
              <a:rPr lang="en-US" dirty="0">
                <a:latin typeface="PT Sans" panose="020B0503020203020204" pitchFamily="34" charset="-52"/>
              </a:rPr>
              <a:t> </a:t>
            </a:r>
            <a:r>
              <a:rPr lang="ru-RU" dirty="0">
                <a:latin typeface="PT Sans" panose="020B0503020203020204" pitchFamily="34" charset="-52"/>
              </a:rPr>
              <a:t>который предоставляет объект-заместитель для другого объекта и контролирует доступ к нему.</a:t>
            </a:r>
          </a:p>
        </p:txBody>
      </p:sp>
    </p:spTree>
    <p:extLst>
      <p:ext uri="{BB962C8B-B14F-4D97-AF65-F5344CB8AC3E}">
        <p14:creationId xmlns:p14="http://schemas.microsoft.com/office/powerpoint/2010/main" val="223367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чего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нужен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PT Sans" panose="020B0503020203020204" pitchFamily="34" charset="-52"/>
              </a:rPr>
              <a:t>Контроль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доступа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Ленивая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загрузка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Логирование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Кэширование</a:t>
            </a:r>
            <a:endParaRPr dirty="0">
              <a:latin typeface="PT Sans" panose="020B05030202030202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E89DB6-7028-4A21-ADCB-1AE41C06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578" y="3863181"/>
            <a:ext cx="7678222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71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Структура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PT Sans" panose="020B0503020203020204" pitchFamily="34" charset="-52"/>
              </a:rPr>
              <a:t>Subject — </a:t>
            </a:r>
            <a:r>
              <a:rPr dirty="0" err="1">
                <a:latin typeface="PT Sans" panose="020B0503020203020204" pitchFamily="34" charset="-52"/>
              </a:rPr>
              <a:t>интерфейс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RealSubject</a:t>
            </a:r>
            <a:r>
              <a:rPr dirty="0">
                <a:latin typeface="PT Sans" panose="020B0503020203020204" pitchFamily="34" charset="-52"/>
              </a:rPr>
              <a:t> — </a:t>
            </a:r>
            <a:r>
              <a:rPr dirty="0" err="1">
                <a:latin typeface="PT Sans" panose="020B0503020203020204" pitchFamily="34" charset="-52"/>
              </a:rPr>
              <a:t>объект</a:t>
            </a:r>
            <a:endParaRPr dirty="0">
              <a:latin typeface="PT Sans" panose="020B0503020203020204" pitchFamily="34" charset="-52"/>
            </a:endParaRPr>
          </a:p>
          <a:p>
            <a:r>
              <a:rPr dirty="0">
                <a:latin typeface="PT Sans" panose="020B0503020203020204" pitchFamily="34" charset="-52"/>
              </a:rPr>
              <a:t>Proxy — </a:t>
            </a:r>
            <a:r>
              <a:rPr dirty="0" err="1">
                <a:latin typeface="PT Sans" panose="020B0503020203020204" pitchFamily="34" charset="-52"/>
              </a:rPr>
              <a:t>заместитель</a:t>
            </a:r>
            <a:endParaRPr dirty="0">
              <a:latin typeface="PT Sans" panose="020B0503020203020204" pitchFamily="34" charset="-52"/>
            </a:endParaRPr>
          </a:p>
          <a:p>
            <a:r>
              <a:rPr dirty="0">
                <a:latin typeface="PT Sans" panose="020B0503020203020204" pitchFamily="34" charset="-52"/>
              </a:rPr>
              <a:t>Client — </a:t>
            </a:r>
            <a:r>
              <a:rPr dirty="0" err="1">
                <a:latin typeface="PT Sans" panose="020B0503020203020204" pitchFamily="34" charset="-52"/>
              </a:rPr>
              <a:t>клиент</a:t>
            </a:r>
            <a:endParaRPr dirty="0">
              <a:latin typeface="PT Sans" panose="020B0503020203020204" pitchFamily="34" charset="-52"/>
            </a:endParaRPr>
          </a:p>
        </p:txBody>
      </p:sp>
      <p:pic>
        <p:nvPicPr>
          <p:cNvPr id="1026" name="Picture 2" descr="Структура классов паттерна Заместитель">
            <a:extLst>
              <a:ext uri="{FF2B5EF4-FFF2-40B4-BE49-F238E27FC236}">
                <a16:creationId xmlns:a16="http://schemas.microsoft.com/office/drawing/2014/main" id="{A52A4CFA-542B-479C-87A0-A0D207948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1474788"/>
            <a:ext cx="3973512" cy="397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AF3D2A-A34D-4194-9251-0B3BA6F6B668}"/>
              </a:ext>
            </a:extLst>
          </p:cNvPr>
          <p:cNvSpPr/>
          <p:nvPr/>
        </p:nvSpPr>
        <p:spPr>
          <a:xfrm>
            <a:off x="8029576" y="1657351"/>
            <a:ext cx="1343025" cy="39052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</a:t>
            </a:r>
            <a:r>
              <a:rPr lang="en-US" dirty="0" err="1"/>
              <a:t>t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84E1E3-28F8-4C60-A781-A72E2EFBB9CF}"/>
              </a:ext>
            </a:extLst>
          </p:cNvPr>
          <p:cNvSpPr/>
          <p:nvPr/>
        </p:nvSpPr>
        <p:spPr>
          <a:xfrm>
            <a:off x="9177338" y="3160715"/>
            <a:ext cx="1190625" cy="2436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RealSubject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25982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Когда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применяется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PT Sans" panose="020B0503020203020204" pitchFamily="34" charset="-52"/>
              </a:rPr>
              <a:t>Тяжёлые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объекты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Безопасность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Удалённые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сервисы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Оптимизация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8518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Преимущества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PT Sans" panose="020B0503020203020204" pitchFamily="34" charset="-52"/>
              </a:rPr>
              <a:t>Контроль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доступа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Производительность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Гибкость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472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Недостатки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PT Sans" panose="020B0503020203020204" pitchFamily="34" charset="-52"/>
              </a:rPr>
              <a:t>Сложность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Больше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классов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6724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1 —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Ленивая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загрузка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354" y="1417639"/>
            <a:ext cx="4382112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23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 1 — Ленивая загрузка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417639"/>
            <a:ext cx="4542590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40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dirty="0"/>
              <a:t> 2 —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5814" y="1414850"/>
            <a:ext cx="457643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3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 — Контроль доступа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417639"/>
            <a:ext cx="473710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60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Ключевая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идея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PT Sans" panose="020B0503020203020204" pitchFamily="34" charset="-52"/>
              </a:rPr>
              <a:t>Proxy — </a:t>
            </a:r>
            <a:r>
              <a:rPr dirty="0" err="1">
                <a:latin typeface="PT Sans" panose="020B0503020203020204" pitchFamily="34" charset="-52"/>
              </a:rPr>
              <a:t>посредник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Управляет</a:t>
            </a:r>
            <a:r>
              <a:rPr dirty="0">
                <a:latin typeface="PT Sans" panose="020B0503020203020204" pitchFamily="34" charset="-52"/>
              </a:rPr>
              <a:t> </a:t>
            </a:r>
            <a:r>
              <a:rPr dirty="0" err="1">
                <a:latin typeface="PT Sans" panose="020B0503020203020204" pitchFamily="34" charset="-52"/>
              </a:rPr>
              <a:t>доступом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47416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PT Sans" panose="020B0503020203020204" pitchFamily="34" charset="-52"/>
              </a:rPr>
              <a:t>Iterator — </a:t>
            </a:r>
            <a:r>
              <a:rPr dirty="0" err="1">
                <a:latin typeface="PT Sans" panose="020B0503020203020204" pitchFamily="34" charset="-52"/>
              </a:rPr>
              <a:t>обход</a:t>
            </a:r>
            <a:endParaRPr dirty="0">
              <a:latin typeface="PT Sans" panose="020B0503020203020204" pitchFamily="34" charset="-52"/>
            </a:endParaRPr>
          </a:p>
          <a:p>
            <a:r>
              <a:rPr dirty="0">
                <a:latin typeface="PT Sans" panose="020B0503020203020204" pitchFamily="34" charset="-52"/>
              </a:rPr>
              <a:t>Proxy — </a:t>
            </a:r>
            <a:r>
              <a:rPr dirty="0" err="1">
                <a:latin typeface="PT Sans" panose="020B0503020203020204" pitchFamily="34" charset="-52"/>
              </a:rPr>
              <a:t>доступ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87103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Итог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PT Sans" panose="020B0503020203020204" pitchFamily="34" charset="-52"/>
              </a:rPr>
              <a:t>Контроль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Оптимизация</a:t>
            </a:r>
            <a:endParaRPr dirty="0">
              <a:latin typeface="PT Sans" panose="020B0503020203020204" pitchFamily="34" charset="-52"/>
            </a:endParaRPr>
          </a:p>
          <a:p>
            <a:r>
              <a:rPr dirty="0" err="1">
                <a:latin typeface="PT Sans" panose="020B0503020203020204" pitchFamily="34" charset="-52"/>
              </a:rPr>
              <a:t>Расширяемость</a:t>
            </a:r>
            <a:endParaRPr dirty="0"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46620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433</Words>
  <Application>Microsoft Office PowerPoint</Application>
  <PresentationFormat>Широкоэкранный</PresentationFormat>
  <Paragraphs>75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PT Sans</vt:lpstr>
      <vt:lpstr>Тема Office</vt:lpstr>
      <vt:lpstr>Паттерн: Итератор</vt:lpstr>
      <vt:lpstr>Что это такое?</vt:lpstr>
      <vt:lpstr>Для чего он нужен?</vt:lpstr>
      <vt:lpstr>Структура</vt:lpstr>
      <vt:lpstr>В каких случаях применяется?</vt:lpstr>
      <vt:lpstr>Итераторы из библиотеки java.util</vt:lpstr>
      <vt:lpstr>Преимущества и недостатки</vt:lpstr>
      <vt:lpstr>Примеры</vt:lpstr>
      <vt:lpstr>Паттерн: Proxy (Заместитель)</vt:lpstr>
      <vt:lpstr>Что это такое?</vt:lpstr>
      <vt:lpstr>Для чего нужен?</vt:lpstr>
      <vt:lpstr>Структура</vt:lpstr>
      <vt:lpstr>Когда применяется?</vt:lpstr>
      <vt:lpstr>Преимущества</vt:lpstr>
      <vt:lpstr>Недостатки</vt:lpstr>
      <vt:lpstr>Пример 1 — Ленивая загрузка</vt:lpstr>
      <vt:lpstr>Пример 1 — Ленивая загрузка</vt:lpstr>
      <vt:lpstr>Пример 2 — Контроль доступа</vt:lpstr>
      <vt:lpstr>Пример 2 — Контроль доступа</vt:lpstr>
      <vt:lpstr>Ключевая идея</vt:lpstr>
      <vt:lpstr>Сравнение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Паттерн: Итератор</dc:title>
  <dc:creator>Вадим Шебалин</dc:creator>
  <cp:lastModifiedBy>Вадим Шебалин</cp:lastModifiedBy>
  <cp:revision>14</cp:revision>
  <dcterms:created xsi:type="dcterms:W3CDTF">2026-03-26T19:15:40Z</dcterms:created>
  <dcterms:modified xsi:type="dcterms:W3CDTF">2026-05-22T13:21:10Z</dcterms:modified>
</cp:coreProperties>
</file>